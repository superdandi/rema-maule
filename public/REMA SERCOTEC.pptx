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hau Philomene" charset="1" panose="02000806040000020003"/>
      <p:regular r:id="rId16"/>
    </p:embeddedFont>
    <p:embeddedFont>
      <p:font typeface="Roboto Bold" charset="1" panose="02000000000000000000"/>
      <p:regular r:id="rId17"/>
    </p:embeddedFont>
    <p:embeddedFont>
      <p:font typeface="Roboto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2037332"/>
            <a:ext cx="18288000" cy="6212335"/>
            <a:chOff x="0" y="0"/>
            <a:chExt cx="4816593" cy="16361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636171"/>
            </a:xfrm>
            <a:custGeom>
              <a:avLst/>
              <a:gdLst/>
              <a:ahLst/>
              <a:cxnLst/>
              <a:rect r="r" b="b" t="t" l="l"/>
              <a:pathLst>
                <a:path h="1636171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1614581"/>
                  </a:lnTo>
                  <a:cubicBezTo>
                    <a:pt x="4816592" y="1620307"/>
                    <a:pt x="4814318" y="1625798"/>
                    <a:pt x="4810269" y="1629847"/>
                  </a:cubicBezTo>
                  <a:cubicBezTo>
                    <a:pt x="4806220" y="1633896"/>
                    <a:pt x="4800728" y="1636171"/>
                    <a:pt x="4795002" y="1636171"/>
                  </a:cubicBezTo>
                  <a:lnTo>
                    <a:pt x="21590" y="1636171"/>
                  </a:lnTo>
                  <a:cubicBezTo>
                    <a:pt x="9666" y="1636171"/>
                    <a:pt x="0" y="1626505"/>
                    <a:pt x="0" y="1614581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000000">
                <a:alpha val="6392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674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233392" y="2275414"/>
            <a:ext cx="10106967" cy="5640923"/>
          </a:xfrm>
          <a:custGeom>
            <a:avLst/>
            <a:gdLst/>
            <a:ahLst/>
            <a:cxnLst/>
            <a:rect r="r" b="b" t="t" l="l"/>
            <a:pathLst>
              <a:path h="5640923" w="10106967">
                <a:moveTo>
                  <a:pt x="0" y="0"/>
                </a:moveTo>
                <a:lnTo>
                  <a:pt x="10106966" y="0"/>
                </a:lnTo>
                <a:lnTo>
                  <a:pt x="10106966" y="5640922"/>
                </a:lnTo>
                <a:lnTo>
                  <a:pt x="0" y="5640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126156" y="2482915"/>
            <a:ext cx="6823087" cy="8229600"/>
          </a:xfrm>
          <a:custGeom>
            <a:avLst/>
            <a:gdLst/>
            <a:ahLst/>
            <a:cxnLst/>
            <a:rect r="r" b="b" t="t" l="l"/>
            <a:pathLst>
              <a:path h="8229600" w="6823087">
                <a:moveTo>
                  <a:pt x="0" y="0"/>
                </a:moveTo>
                <a:lnTo>
                  <a:pt x="6823086" y="0"/>
                </a:lnTo>
                <a:lnTo>
                  <a:pt x="682308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47757" y="-1631885"/>
            <a:ext cx="6823087" cy="8229600"/>
          </a:xfrm>
          <a:custGeom>
            <a:avLst/>
            <a:gdLst/>
            <a:ahLst/>
            <a:cxnLst/>
            <a:rect r="r" b="b" t="t" l="l"/>
            <a:pathLst>
              <a:path h="8229600" w="6823087">
                <a:moveTo>
                  <a:pt x="0" y="0"/>
                </a:moveTo>
                <a:lnTo>
                  <a:pt x="6823086" y="0"/>
                </a:lnTo>
                <a:lnTo>
                  <a:pt x="682308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0288" y="715542"/>
            <a:ext cx="16322040" cy="891540"/>
            <a:chOff x="0" y="0"/>
            <a:chExt cx="2176272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¿Quiénes somos y cómo funcionamos?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083753" y="49295"/>
            <a:ext cx="4742373" cy="2687974"/>
          </a:xfrm>
          <a:custGeom>
            <a:avLst/>
            <a:gdLst/>
            <a:ahLst/>
            <a:cxnLst/>
            <a:rect r="r" b="b" t="t" l="l"/>
            <a:pathLst>
              <a:path h="2687974" w="4742373">
                <a:moveTo>
                  <a:pt x="0" y="0"/>
                </a:moveTo>
                <a:lnTo>
                  <a:pt x="4742373" y="0"/>
                </a:lnTo>
                <a:lnTo>
                  <a:pt x="4742373" y="2687974"/>
                </a:lnTo>
                <a:lnTo>
                  <a:pt x="0" y="2687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</a:blip>
            <a:stretch>
              <a:fillRect l="-759" t="0" r="-794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742958" y="1607082"/>
            <a:ext cx="12295644" cy="0"/>
          </a:xfrm>
          <a:prstGeom prst="line">
            <a:avLst/>
          </a:prstGeom>
          <a:ln cap="rnd" w="9525">
            <a:solidFill>
              <a:srgbClr val="B65AF6">
                <a:alpha val="7019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754276" y="2798445"/>
            <a:ext cx="14779447" cy="645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REMA</a:t>
            </a:r>
            <a:r>
              <a:rPr lang="en-US" sz="3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Red de Artistas y Músicos del Maule, es una iniciativa asociativa que reúne a trabajadoras y trabajadores del sector artístico, musical y cultural de la región, con el propósito de articular capacidades, conocimientos y experiencias para desarrollar proyectos, generar oportunidades laborales y fortalecer el ecosistema creativo del Maule.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Actualmente contamos con una base pre-cooperativa de 11 personas, vinculadas a distintas áreas del quehacer artístico, musical, cultural y de gestión.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Hoy queremos dar un paso fundamental: constituirnos formalmente como una cooperativa de servicios culturales.</a:t>
            </a:r>
          </a:p>
          <a:p>
            <a:pPr algn="just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0288" y="715542"/>
            <a:ext cx="16322040" cy="891540"/>
            <a:chOff x="0" y="0"/>
            <a:chExt cx="2176272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¿Quiénes somos y cómo funcionamos?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2985" y="2242566"/>
            <a:ext cx="16047720" cy="713232"/>
            <a:chOff x="0" y="0"/>
            <a:chExt cx="21396960" cy="9509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96961" cy="950976"/>
            </a:xfrm>
            <a:custGeom>
              <a:avLst/>
              <a:gdLst/>
              <a:ahLst/>
              <a:cxnLst/>
              <a:rect r="r" b="b" t="t" l="l"/>
              <a:pathLst>
                <a:path h="950976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39696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>
                  <a:solidFill>
                    <a:srgbClr val="C7C7D7"/>
                  </a:solidFill>
                  <a:latin typeface="Roboto"/>
                  <a:ea typeface="Roboto"/>
                  <a:cs typeface="Roboto"/>
                  <a:sym typeface="Roboto"/>
                </a:rPr>
                <a:t>Infraestructura organizativa: </a:t>
              </a:r>
              <a:r>
                <a:rPr lang="en-US" sz="3150">
                  <a:solidFill>
                    <a:srgbClr val="C7C7D7"/>
                  </a:solidFill>
                  <a:latin typeface="Roboto"/>
                  <a:ea typeface="Roboto"/>
                  <a:cs typeface="Roboto"/>
                  <a:sym typeface="Roboto"/>
                </a:rPr>
                <a:t>Nuestro equipo fundador y modelo de gobernanza horizontal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0892" y="3426333"/>
            <a:ext cx="7562850" cy="2007870"/>
            <a:chOff x="0" y="0"/>
            <a:chExt cx="10083800" cy="2677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838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10083800">
                  <a:moveTo>
                    <a:pt x="0" y="295402"/>
                  </a:moveTo>
                  <a:cubicBezTo>
                    <a:pt x="0" y="132207"/>
                    <a:pt x="132207" y="0"/>
                    <a:pt x="295402" y="0"/>
                  </a:cubicBezTo>
                  <a:lnTo>
                    <a:pt x="9788398" y="0"/>
                  </a:lnTo>
                  <a:cubicBezTo>
                    <a:pt x="9951593" y="0"/>
                    <a:pt x="10083800" y="132207"/>
                    <a:pt x="10083800" y="295402"/>
                  </a:cubicBezTo>
                  <a:lnTo>
                    <a:pt x="10083800" y="2381758"/>
                  </a:lnTo>
                  <a:cubicBezTo>
                    <a:pt x="10083800" y="2544953"/>
                    <a:pt x="9951593" y="2677160"/>
                    <a:pt x="9788398" y="2677160"/>
                  </a:cubicBezTo>
                  <a:lnTo>
                    <a:pt x="295402" y="2677160"/>
                  </a:lnTo>
                  <a:cubicBezTo>
                    <a:pt x="132207" y="2677160"/>
                    <a:pt x="0" y="2544953"/>
                    <a:pt x="0" y="2381758"/>
                  </a:cubicBezTo>
                  <a:close/>
                </a:path>
              </a:pathLst>
            </a:custGeom>
            <a:solidFill>
              <a:srgbClr val="293548"/>
            </a:solidFill>
            <a:ln w="19050" cap="sq">
              <a:solidFill>
                <a:srgbClr val="76509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63045" y="3614166"/>
            <a:ext cx="2331720" cy="1001268"/>
            <a:chOff x="0" y="0"/>
            <a:chExt cx="3108960" cy="13350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08960" cy="1335024"/>
            </a:xfrm>
            <a:custGeom>
              <a:avLst/>
              <a:gdLst/>
              <a:ahLst/>
              <a:cxnLst/>
              <a:rect r="r" b="b" t="t" l="l"/>
              <a:pathLst>
                <a:path h="133502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335024"/>
                  </a:lnTo>
                  <a:lnTo>
                    <a:pt x="0" y="1335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95" t="0" r="-5095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108960" cy="1335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460"/>
                </a:lnSpc>
              </a:pPr>
              <a:r>
                <a:rPr lang="en-US" sz="7050">
                  <a:solidFill>
                    <a:srgbClr val="B65AF6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11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451865" y="3847338"/>
            <a:ext cx="3703320" cy="548640"/>
            <a:chOff x="0" y="0"/>
            <a:chExt cx="493776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37760" cy="731520"/>
            </a:xfrm>
            <a:custGeom>
              <a:avLst/>
              <a:gdLst/>
              <a:ahLst/>
              <a:cxnLst/>
              <a:rect r="r" b="b" t="t" l="l"/>
              <a:pathLst>
                <a:path h="73152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9377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integrantes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01308" y="3426333"/>
            <a:ext cx="8111490" cy="2007870"/>
            <a:chOff x="0" y="0"/>
            <a:chExt cx="10815320" cy="2677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15320" cy="2677160"/>
            </a:xfrm>
            <a:custGeom>
              <a:avLst/>
              <a:gdLst/>
              <a:ahLst/>
              <a:cxnLst/>
              <a:rect r="r" b="b" t="t" l="l"/>
              <a:pathLst>
                <a:path h="2677160" w="10815320">
                  <a:moveTo>
                    <a:pt x="0" y="295402"/>
                  </a:moveTo>
                  <a:cubicBezTo>
                    <a:pt x="0" y="132207"/>
                    <a:pt x="132207" y="0"/>
                    <a:pt x="295402" y="0"/>
                  </a:cubicBezTo>
                  <a:lnTo>
                    <a:pt x="10519918" y="0"/>
                  </a:lnTo>
                  <a:cubicBezTo>
                    <a:pt x="10683113" y="0"/>
                    <a:pt x="10815320" y="132207"/>
                    <a:pt x="10815320" y="295402"/>
                  </a:cubicBezTo>
                  <a:lnTo>
                    <a:pt x="10815320" y="2381758"/>
                  </a:lnTo>
                  <a:cubicBezTo>
                    <a:pt x="10815320" y="2544953"/>
                    <a:pt x="10683113" y="2677160"/>
                    <a:pt x="10519918" y="2677160"/>
                  </a:cubicBezTo>
                  <a:lnTo>
                    <a:pt x="295402" y="2677160"/>
                  </a:lnTo>
                  <a:cubicBezTo>
                    <a:pt x="132207" y="2677160"/>
                    <a:pt x="0" y="2544953"/>
                    <a:pt x="0" y="2381758"/>
                  </a:cubicBezTo>
                  <a:close/>
                </a:path>
              </a:pathLst>
            </a:custGeom>
            <a:solidFill>
              <a:srgbClr val="293548"/>
            </a:solidFill>
            <a:ln w="19050" cap="sq">
              <a:solidFill>
                <a:srgbClr val="76509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349745" y="3614166"/>
            <a:ext cx="2880360" cy="1001268"/>
            <a:chOff x="0" y="0"/>
            <a:chExt cx="3840480" cy="13350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40480" cy="1335024"/>
            </a:xfrm>
            <a:custGeom>
              <a:avLst/>
              <a:gdLst/>
              <a:ahLst/>
              <a:cxnLst/>
              <a:rect r="r" b="b" t="t" l="l"/>
              <a:pathLst>
                <a:path h="1335024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335024"/>
                  </a:lnTo>
                  <a:lnTo>
                    <a:pt x="0" y="1335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52" r="0" b="-605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3840480" cy="1325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>
                  <a:solidFill>
                    <a:srgbClr val="EC70D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55%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504425" y="3765042"/>
            <a:ext cx="4114800" cy="795528"/>
            <a:chOff x="0" y="0"/>
            <a:chExt cx="5486400" cy="10607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864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784" r="0" b="-5078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486400" cy="1070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mujeres socias fundadoras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0892" y="5895213"/>
            <a:ext cx="7562850" cy="2007870"/>
            <a:chOff x="0" y="0"/>
            <a:chExt cx="10083800" cy="2677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838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10083800">
                  <a:moveTo>
                    <a:pt x="0" y="295402"/>
                  </a:moveTo>
                  <a:cubicBezTo>
                    <a:pt x="0" y="132207"/>
                    <a:pt x="132207" y="0"/>
                    <a:pt x="295402" y="0"/>
                  </a:cubicBezTo>
                  <a:lnTo>
                    <a:pt x="9788398" y="0"/>
                  </a:lnTo>
                  <a:cubicBezTo>
                    <a:pt x="9951593" y="0"/>
                    <a:pt x="10083800" y="132207"/>
                    <a:pt x="10083800" y="295402"/>
                  </a:cubicBezTo>
                  <a:lnTo>
                    <a:pt x="10083800" y="2381758"/>
                  </a:lnTo>
                  <a:cubicBezTo>
                    <a:pt x="10083800" y="2544953"/>
                    <a:pt x="9951593" y="2677160"/>
                    <a:pt x="9788398" y="2677160"/>
                  </a:cubicBezTo>
                  <a:lnTo>
                    <a:pt x="295402" y="2677160"/>
                  </a:lnTo>
                  <a:cubicBezTo>
                    <a:pt x="132207" y="2677160"/>
                    <a:pt x="0" y="2544953"/>
                    <a:pt x="0" y="2381758"/>
                  </a:cubicBezTo>
                  <a:close/>
                </a:path>
              </a:pathLst>
            </a:custGeom>
            <a:solidFill>
              <a:srgbClr val="293548"/>
            </a:solidFill>
            <a:ln w="19050" cap="sq">
              <a:solidFill>
                <a:srgbClr val="76509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421897" y="6247638"/>
            <a:ext cx="6720840" cy="548640"/>
            <a:chOff x="0" y="0"/>
            <a:chExt cx="896112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89611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B65AF6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DECISIONES PARTICIPATIVAS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21897" y="7015734"/>
            <a:ext cx="6720840" cy="493776"/>
            <a:chOff x="0" y="0"/>
            <a:chExt cx="8961120" cy="6583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961120" cy="658368"/>
            </a:xfrm>
            <a:custGeom>
              <a:avLst/>
              <a:gdLst/>
              <a:ahLst/>
              <a:cxnLst/>
              <a:rect r="r" b="b" t="t" l="l"/>
              <a:pathLst>
                <a:path h="658368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213" r="0" b="-21521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896112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Igualdad de voto y acuerdos colectivos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901308" y="5895213"/>
            <a:ext cx="8111490" cy="2007870"/>
            <a:chOff x="0" y="0"/>
            <a:chExt cx="10815320" cy="26771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15320" cy="2677160"/>
            </a:xfrm>
            <a:custGeom>
              <a:avLst/>
              <a:gdLst/>
              <a:ahLst/>
              <a:cxnLst/>
              <a:rect r="r" b="b" t="t" l="l"/>
              <a:pathLst>
                <a:path h="2677160" w="10815320">
                  <a:moveTo>
                    <a:pt x="0" y="295402"/>
                  </a:moveTo>
                  <a:cubicBezTo>
                    <a:pt x="0" y="132207"/>
                    <a:pt x="132207" y="0"/>
                    <a:pt x="295402" y="0"/>
                  </a:cubicBezTo>
                  <a:lnTo>
                    <a:pt x="10519918" y="0"/>
                  </a:lnTo>
                  <a:cubicBezTo>
                    <a:pt x="10683113" y="0"/>
                    <a:pt x="10815320" y="132207"/>
                    <a:pt x="10815320" y="295402"/>
                  </a:cubicBezTo>
                  <a:lnTo>
                    <a:pt x="10815320" y="2381758"/>
                  </a:lnTo>
                  <a:cubicBezTo>
                    <a:pt x="10815320" y="2544953"/>
                    <a:pt x="10683113" y="2677160"/>
                    <a:pt x="10519918" y="2677160"/>
                  </a:cubicBezTo>
                  <a:lnTo>
                    <a:pt x="295402" y="2677160"/>
                  </a:lnTo>
                  <a:cubicBezTo>
                    <a:pt x="132207" y="2677160"/>
                    <a:pt x="0" y="2544953"/>
                    <a:pt x="0" y="2381758"/>
                  </a:cubicBezTo>
                  <a:close/>
                </a:path>
              </a:pathLst>
            </a:custGeom>
            <a:solidFill>
              <a:srgbClr val="293548"/>
            </a:solidFill>
            <a:ln w="19050" cap="sq">
              <a:solidFill>
                <a:srgbClr val="76509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349745" y="6247638"/>
            <a:ext cx="7132320" cy="548640"/>
            <a:chOff x="0" y="0"/>
            <a:chExt cx="950976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95097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EC70D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COMISIONES DE TRABAJO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49745" y="7029450"/>
            <a:ext cx="6995160" cy="534924"/>
            <a:chOff x="0" y="0"/>
            <a:chExt cx="9326880" cy="7132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326880" cy="713232"/>
            </a:xfrm>
            <a:custGeom>
              <a:avLst/>
              <a:gdLst/>
              <a:ahLst/>
              <a:cxnLst/>
              <a:rect r="r" b="b" t="t" l="l"/>
              <a:pathLst>
                <a:path h="713232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9326880" cy="7322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Comunicaciones · Gestión · Formación · Territorio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5" y="8560308"/>
            <a:ext cx="16226790" cy="669291"/>
            <a:chOff x="0" y="0"/>
            <a:chExt cx="21635720" cy="8923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635720" cy="892388"/>
            </a:xfrm>
            <a:custGeom>
              <a:avLst/>
              <a:gdLst/>
              <a:ahLst/>
              <a:cxnLst/>
              <a:rect r="r" b="b" t="t" l="l"/>
              <a:pathLst>
                <a:path h="892388" w="21635720">
                  <a:moveTo>
                    <a:pt x="0" y="0"/>
                  </a:moveTo>
                  <a:lnTo>
                    <a:pt x="21635720" y="0"/>
                  </a:lnTo>
                  <a:lnTo>
                    <a:pt x="21635720" y="892388"/>
                  </a:lnTo>
                  <a:lnTo>
                    <a:pt x="0" y="8923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294" r="-586" b="-41207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1635720" cy="892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99"/>
                </a:lnSpc>
              </a:pPr>
              <a:r>
                <a:rPr lang="en-US" sz="3499">
                  <a:solidFill>
                    <a:srgbClr val="B65AF6"/>
                  </a:solidFill>
                  <a:latin typeface="Roboto"/>
                  <a:ea typeface="Roboto"/>
                  <a:cs typeface="Roboto"/>
                  <a:sym typeface="Roboto"/>
                </a:rPr>
                <a:t>Recursos Digitales</a:t>
              </a:r>
              <a:r>
                <a:rPr lang="en-US" sz="3499">
                  <a:solidFill>
                    <a:srgbClr val="B65AF6"/>
                  </a:solidFill>
                  <a:latin typeface="Roboto"/>
                  <a:ea typeface="Roboto"/>
                  <a:cs typeface="Roboto"/>
                  <a:sym typeface="Roboto"/>
                </a:rPr>
                <a:t>: WhatsApp · Jitsi · Google Meet · Google Drive · Google Forms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3083753" y="49295"/>
            <a:ext cx="4742373" cy="2687974"/>
          </a:xfrm>
          <a:custGeom>
            <a:avLst/>
            <a:gdLst/>
            <a:ahLst/>
            <a:cxnLst/>
            <a:rect r="r" b="b" t="t" l="l"/>
            <a:pathLst>
              <a:path h="2687974" w="4742373">
                <a:moveTo>
                  <a:pt x="0" y="0"/>
                </a:moveTo>
                <a:lnTo>
                  <a:pt x="4742373" y="0"/>
                </a:lnTo>
                <a:lnTo>
                  <a:pt x="4742373" y="2687974"/>
                </a:lnTo>
                <a:lnTo>
                  <a:pt x="0" y="2687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</a:blip>
            <a:stretch>
              <a:fillRect l="-759" t="0" r="-794" b="0"/>
            </a:stretch>
          </a:blipFill>
        </p:spPr>
      </p:sp>
      <p:sp>
        <p:nvSpPr>
          <p:cNvPr name="AutoShape 44" id="44"/>
          <p:cNvSpPr/>
          <p:nvPr/>
        </p:nvSpPr>
        <p:spPr>
          <a:xfrm flipV="true">
            <a:off x="742958" y="1607082"/>
            <a:ext cx="12295644" cy="0"/>
          </a:xfrm>
          <a:prstGeom prst="line">
            <a:avLst/>
          </a:prstGeom>
          <a:ln cap="rnd" w="9525">
            <a:solidFill>
              <a:srgbClr val="B65AF6">
                <a:alpha val="70196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83753" y="49295"/>
            <a:ext cx="4742373" cy="2687974"/>
          </a:xfrm>
          <a:custGeom>
            <a:avLst/>
            <a:gdLst/>
            <a:ahLst/>
            <a:cxnLst/>
            <a:rect r="r" b="b" t="t" l="l"/>
            <a:pathLst>
              <a:path h="2687974" w="4742373">
                <a:moveTo>
                  <a:pt x="0" y="0"/>
                </a:moveTo>
                <a:lnTo>
                  <a:pt x="4742373" y="0"/>
                </a:lnTo>
                <a:lnTo>
                  <a:pt x="4742373" y="2687974"/>
                </a:lnTo>
                <a:lnTo>
                  <a:pt x="0" y="2687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-759" t="0" r="-79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2958" y="664148"/>
            <a:ext cx="16914181" cy="923884"/>
            <a:chOff x="0" y="0"/>
            <a:chExt cx="21762720" cy="1188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Diagnóstico en el Maule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6914" y="2466408"/>
            <a:ext cx="16772045" cy="710680"/>
            <a:chOff x="0" y="0"/>
            <a:chExt cx="2157984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79839" cy="914400"/>
            </a:xfrm>
            <a:custGeom>
              <a:avLst/>
              <a:gdLst/>
              <a:ahLst/>
              <a:cxnLst/>
              <a:rect r="r" b="b" t="t" l="l"/>
              <a:pathLst>
                <a:path h="9144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846" r="0" b="-4098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579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7C7D7"/>
                  </a:solidFill>
                  <a:latin typeface="Roboto"/>
                  <a:ea typeface="Roboto"/>
                  <a:cs typeface="Roboto"/>
                  <a:sym typeface="Roboto"/>
                </a:rPr>
                <a:t>Tres brechas que limitan el desarrollo del sector creativo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9180" y="3479917"/>
            <a:ext cx="16720718" cy="1696946"/>
            <a:chOff x="0" y="0"/>
            <a:chExt cx="21513800" cy="21833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13800" cy="2183384"/>
            </a:xfrm>
            <a:custGeom>
              <a:avLst/>
              <a:gdLst/>
              <a:ahLst/>
              <a:cxnLst/>
              <a:rect r="r" b="b" t="t" l="l"/>
              <a:pathLst>
                <a:path h="2183384" w="21513800">
                  <a:moveTo>
                    <a:pt x="0" y="296037"/>
                  </a:moveTo>
                  <a:cubicBezTo>
                    <a:pt x="0" y="132588"/>
                    <a:pt x="132588" y="0"/>
                    <a:pt x="296037" y="0"/>
                  </a:cubicBezTo>
                  <a:lnTo>
                    <a:pt x="21217762" y="0"/>
                  </a:lnTo>
                  <a:cubicBezTo>
                    <a:pt x="21381213" y="0"/>
                    <a:pt x="21513800" y="132588"/>
                    <a:pt x="21513800" y="296037"/>
                  </a:cubicBezTo>
                  <a:lnTo>
                    <a:pt x="21513800" y="1887347"/>
                  </a:lnTo>
                  <a:cubicBezTo>
                    <a:pt x="21513800" y="2050796"/>
                    <a:pt x="21381213" y="2183384"/>
                    <a:pt x="21217764" y="2183384"/>
                  </a:cubicBezTo>
                  <a:lnTo>
                    <a:pt x="296037" y="2183384"/>
                  </a:lnTo>
                  <a:cubicBezTo>
                    <a:pt x="132588" y="2183384"/>
                    <a:pt x="0" y="2050796"/>
                    <a:pt x="0" y="1887347"/>
                  </a:cubicBezTo>
                  <a:close/>
                </a:path>
              </a:pathLst>
            </a:custGeom>
            <a:solidFill>
              <a:srgbClr val="293548"/>
            </a:solidFill>
            <a:ln w="19050" cap="sq">
              <a:solidFill>
                <a:srgbClr val="76509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84390" y="3830914"/>
            <a:ext cx="1137088" cy="739107"/>
            <a:chOff x="0" y="0"/>
            <a:chExt cx="1463040" cy="9509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" cy="950976"/>
            </a:xfrm>
            <a:custGeom>
              <a:avLst/>
              <a:gdLst/>
              <a:ahLst/>
              <a:cxnLst/>
              <a:rect r="r" b="b" t="t" l="l"/>
              <a:pathLst>
                <a:path h="95097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397" t="0" r="-33397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46304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>
                  <a:solidFill>
                    <a:srgbClr val="B65AF6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534682" y="3660351"/>
            <a:ext cx="13929325" cy="568544"/>
            <a:chOff x="0" y="0"/>
            <a:chExt cx="1792224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22239" cy="731520"/>
            </a:xfrm>
            <a:custGeom>
              <a:avLst/>
              <a:gdLst/>
              <a:ahLst/>
              <a:cxnLst/>
              <a:rect r="r" b="b" t="t" l="l"/>
              <a:pathLst>
                <a:path h="7315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383" r="0" b="-42738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792224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Autogestión informal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34682" y="4371030"/>
            <a:ext cx="13645054" cy="540117"/>
            <a:chOff x="0" y="0"/>
            <a:chExt cx="17556480" cy="6949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556480" cy="694944"/>
            </a:xfrm>
            <a:custGeom>
              <a:avLst/>
              <a:gdLst/>
              <a:ahLst/>
              <a:cxnLst/>
              <a:rect r="r" b="b" t="t" l="l"/>
              <a:pathLst>
                <a:path h="694944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2253" r="0" b="-44225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7556480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7C7D7"/>
                  </a:solidFill>
                  <a:latin typeface="Roboto"/>
                  <a:ea typeface="Roboto"/>
                  <a:cs typeface="Roboto"/>
                  <a:sym typeface="Roboto"/>
                </a:rPr>
                <a:t>Alta dependencia del trabajo individual y de la autogestión.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9180" y="5569316"/>
            <a:ext cx="16720718" cy="1696946"/>
            <a:chOff x="0" y="0"/>
            <a:chExt cx="21513800" cy="21833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13800" cy="2183384"/>
            </a:xfrm>
            <a:custGeom>
              <a:avLst/>
              <a:gdLst/>
              <a:ahLst/>
              <a:cxnLst/>
              <a:rect r="r" b="b" t="t" l="l"/>
              <a:pathLst>
                <a:path h="2183384" w="21513800">
                  <a:moveTo>
                    <a:pt x="0" y="296037"/>
                  </a:moveTo>
                  <a:cubicBezTo>
                    <a:pt x="0" y="132588"/>
                    <a:pt x="132588" y="0"/>
                    <a:pt x="296037" y="0"/>
                  </a:cubicBezTo>
                  <a:lnTo>
                    <a:pt x="21217762" y="0"/>
                  </a:lnTo>
                  <a:cubicBezTo>
                    <a:pt x="21381213" y="0"/>
                    <a:pt x="21513800" y="132588"/>
                    <a:pt x="21513800" y="296037"/>
                  </a:cubicBezTo>
                  <a:lnTo>
                    <a:pt x="21513800" y="1887347"/>
                  </a:lnTo>
                  <a:cubicBezTo>
                    <a:pt x="21513800" y="2050796"/>
                    <a:pt x="21381213" y="2183384"/>
                    <a:pt x="21217764" y="2183384"/>
                  </a:cubicBezTo>
                  <a:lnTo>
                    <a:pt x="296037" y="2183384"/>
                  </a:lnTo>
                  <a:cubicBezTo>
                    <a:pt x="132588" y="2183384"/>
                    <a:pt x="0" y="2050796"/>
                    <a:pt x="0" y="1887347"/>
                  </a:cubicBezTo>
                  <a:close/>
                </a:path>
              </a:pathLst>
            </a:custGeom>
            <a:solidFill>
              <a:srgbClr val="293548"/>
            </a:solidFill>
            <a:ln w="19050" cap="sq">
              <a:solidFill>
                <a:srgbClr val="76509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84390" y="5920313"/>
            <a:ext cx="1137088" cy="739107"/>
            <a:chOff x="0" y="0"/>
            <a:chExt cx="1463040" cy="9509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0" cy="950976"/>
            </a:xfrm>
            <a:custGeom>
              <a:avLst/>
              <a:gdLst/>
              <a:ahLst/>
              <a:cxnLst/>
              <a:rect r="r" b="b" t="t" l="l"/>
              <a:pathLst>
                <a:path h="95097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397" t="0" r="-3339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46304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>
                  <a:solidFill>
                    <a:srgbClr val="B65AF6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534682" y="5749749"/>
            <a:ext cx="13929325" cy="568544"/>
            <a:chOff x="0" y="0"/>
            <a:chExt cx="1792224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922239" cy="731520"/>
            </a:xfrm>
            <a:custGeom>
              <a:avLst/>
              <a:gdLst/>
              <a:ahLst/>
              <a:cxnLst/>
              <a:rect r="r" b="b" t="t" l="l"/>
              <a:pathLst>
                <a:path h="7315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383" r="0" b="-42738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1792224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Capacidades fragmentadas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534682" y="6460429"/>
            <a:ext cx="13645054" cy="540117"/>
            <a:chOff x="0" y="0"/>
            <a:chExt cx="17556480" cy="6949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556480" cy="694944"/>
            </a:xfrm>
            <a:custGeom>
              <a:avLst/>
              <a:gdLst/>
              <a:ahLst/>
              <a:cxnLst/>
              <a:rect r="r" b="b" t="t" l="l"/>
              <a:pathLst>
                <a:path h="694944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2253" r="0" b="-44225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7556480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7C7D7"/>
                  </a:solidFill>
                  <a:latin typeface="Roboto"/>
                  <a:ea typeface="Roboto"/>
                  <a:cs typeface="Roboto"/>
                  <a:sym typeface="Roboto"/>
                </a:rPr>
                <a:t>Competencias productivas dispersas y poco articuladas.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19180" y="7658715"/>
            <a:ext cx="16720718" cy="1696946"/>
            <a:chOff x="0" y="0"/>
            <a:chExt cx="21513800" cy="21833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513800" cy="2183384"/>
            </a:xfrm>
            <a:custGeom>
              <a:avLst/>
              <a:gdLst/>
              <a:ahLst/>
              <a:cxnLst/>
              <a:rect r="r" b="b" t="t" l="l"/>
              <a:pathLst>
                <a:path h="2183384" w="21513800">
                  <a:moveTo>
                    <a:pt x="0" y="296037"/>
                  </a:moveTo>
                  <a:cubicBezTo>
                    <a:pt x="0" y="132588"/>
                    <a:pt x="132588" y="0"/>
                    <a:pt x="296037" y="0"/>
                  </a:cubicBezTo>
                  <a:lnTo>
                    <a:pt x="21217762" y="0"/>
                  </a:lnTo>
                  <a:cubicBezTo>
                    <a:pt x="21381213" y="0"/>
                    <a:pt x="21513800" y="132588"/>
                    <a:pt x="21513800" y="296037"/>
                  </a:cubicBezTo>
                  <a:lnTo>
                    <a:pt x="21513800" y="1887347"/>
                  </a:lnTo>
                  <a:cubicBezTo>
                    <a:pt x="21513800" y="2050796"/>
                    <a:pt x="21381213" y="2183384"/>
                    <a:pt x="21217764" y="2183384"/>
                  </a:cubicBezTo>
                  <a:lnTo>
                    <a:pt x="296037" y="2183384"/>
                  </a:lnTo>
                  <a:cubicBezTo>
                    <a:pt x="132588" y="2183384"/>
                    <a:pt x="0" y="2050796"/>
                    <a:pt x="0" y="1887347"/>
                  </a:cubicBezTo>
                  <a:close/>
                </a:path>
              </a:pathLst>
            </a:custGeom>
            <a:solidFill>
              <a:srgbClr val="293548"/>
            </a:solidFill>
            <a:ln w="19050" cap="sq">
              <a:solidFill>
                <a:srgbClr val="76509B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84390" y="8009711"/>
            <a:ext cx="1137088" cy="739107"/>
            <a:chOff x="0" y="0"/>
            <a:chExt cx="1463040" cy="9509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" cy="950976"/>
            </a:xfrm>
            <a:custGeom>
              <a:avLst/>
              <a:gdLst/>
              <a:ahLst/>
              <a:cxnLst/>
              <a:rect r="r" b="b" t="t" l="l"/>
              <a:pathLst>
                <a:path h="95097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397" t="0" r="-3339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46304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>
                  <a:solidFill>
                    <a:srgbClr val="B65AF6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03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534682" y="7839148"/>
            <a:ext cx="13929325" cy="568544"/>
            <a:chOff x="0" y="0"/>
            <a:chExt cx="1792224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922239" cy="731520"/>
            </a:xfrm>
            <a:custGeom>
              <a:avLst/>
              <a:gdLst/>
              <a:ahLst/>
              <a:cxnLst/>
              <a:rect r="r" b="b" t="t" l="l"/>
              <a:pathLst>
                <a:path h="7315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383" r="0" b="-42738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1792224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Brechas de profesionalización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534682" y="8549828"/>
            <a:ext cx="13645054" cy="540117"/>
            <a:chOff x="0" y="0"/>
            <a:chExt cx="17556480" cy="6949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556480" cy="694944"/>
            </a:xfrm>
            <a:custGeom>
              <a:avLst/>
              <a:gdLst/>
              <a:ahLst/>
              <a:cxnLst/>
              <a:rect r="r" b="b" t="t" l="l"/>
              <a:pathLst>
                <a:path h="694944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2253" r="0" b="-4422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7556480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7C7D7"/>
                  </a:solidFill>
                  <a:latin typeface="Roboto"/>
                  <a:ea typeface="Roboto"/>
                  <a:cs typeface="Roboto"/>
                  <a:sym typeface="Roboto"/>
                </a:rPr>
                <a:t>Faltan herramientas de gestión, comercialización y circulación.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flipV="true">
            <a:off x="742958" y="1588032"/>
            <a:ext cx="12295644" cy="0"/>
          </a:xfrm>
          <a:prstGeom prst="line">
            <a:avLst/>
          </a:prstGeom>
          <a:ln cap="rnd" w="9525">
            <a:solidFill>
              <a:srgbClr val="B65AF6">
                <a:alpha val="70196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8766" y="749618"/>
            <a:ext cx="16322040" cy="891540"/>
            <a:chOff x="0" y="0"/>
            <a:chExt cx="2176272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Oportunidad de negocio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67346" y="2162366"/>
            <a:ext cx="16459200" cy="685800"/>
            <a:chOff x="0" y="0"/>
            <a:chExt cx="219456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7C7D7"/>
                  </a:solidFill>
                  <a:latin typeface="Roboto"/>
                  <a:ea typeface="Roboto"/>
                  <a:cs typeface="Roboto"/>
                  <a:sym typeface="Roboto"/>
                </a:rPr>
                <a:t>Transformamos talento local en servicios profesionales sostenibles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85253" y="3208972"/>
            <a:ext cx="8180070" cy="4476750"/>
            <a:chOff x="0" y="0"/>
            <a:chExt cx="10906760" cy="596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6760" cy="5969000"/>
            </a:xfrm>
            <a:custGeom>
              <a:avLst/>
              <a:gdLst/>
              <a:ahLst/>
              <a:cxnLst/>
              <a:rect r="r" b="b" t="t" l="l"/>
              <a:pathLst>
                <a:path h="5969000" w="10906760">
                  <a:moveTo>
                    <a:pt x="0" y="293878"/>
                  </a:moveTo>
                  <a:cubicBezTo>
                    <a:pt x="0" y="131572"/>
                    <a:pt x="131572" y="0"/>
                    <a:pt x="293878" y="0"/>
                  </a:cubicBezTo>
                  <a:lnTo>
                    <a:pt x="10612882" y="0"/>
                  </a:lnTo>
                  <a:cubicBezTo>
                    <a:pt x="10775188" y="0"/>
                    <a:pt x="10906760" y="131572"/>
                    <a:pt x="10906760" y="293878"/>
                  </a:cubicBezTo>
                  <a:lnTo>
                    <a:pt x="10906760" y="5675122"/>
                  </a:lnTo>
                  <a:cubicBezTo>
                    <a:pt x="10906760" y="5837428"/>
                    <a:pt x="10775188" y="5969000"/>
                    <a:pt x="10612882" y="5969000"/>
                  </a:cubicBezTo>
                  <a:lnTo>
                    <a:pt x="293878" y="5969000"/>
                  </a:lnTo>
                  <a:cubicBezTo>
                    <a:pt x="131572" y="5969000"/>
                    <a:pt x="0" y="5837428"/>
                    <a:pt x="0" y="5675122"/>
                  </a:cubicBezTo>
                  <a:close/>
                </a:path>
              </a:pathLst>
            </a:custGeom>
            <a:solidFill>
              <a:srgbClr val="293548"/>
            </a:solidFill>
            <a:ln w="1905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33690" y="3657410"/>
            <a:ext cx="7200900" cy="658368"/>
            <a:chOff x="0" y="0"/>
            <a:chExt cx="9601200" cy="877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01200" cy="877824"/>
            </a:xfrm>
            <a:custGeom>
              <a:avLst/>
              <a:gdLst/>
              <a:ahLst/>
              <a:cxnLst/>
              <a:rect r="r" b="b" t="t" l="l"/>
              <a:pathLst>
                <a:path h="877824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6012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>
                  <a:solidFill>
                    <a:srgbClr val="B65AF6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FORMACIÓN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3690" y="4562666"/>
            <a:ext cx="7200900" cy="685800"/>
            <a:chOff x="0" y="0"/>
            <a:chExt cx="96012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96012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b="true" sz="3150">
                  <a:solidFill>
                    <a:srgbClr val="F7F4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Desarrollo de capacidades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3690" y="5646230"/>
            <a:ext cx="7104888" cy="1371600"/>
            <a:chOff x="0" y="0"/>
            <a:chExt cx="9473184" cy="182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73184" cy="1828800"/>
            </a:xfrm>
            <a:custGeom>
              <a:avLst/>
              <a:gdLst/>
              <a:ahLst/>
              <a:cxnLst/>
              <a:rect r="r" b="b" t="t" l="l"/>
              <a:pathLst>
                <a:path h="1828800" w="9473184">
                  <a:moveTo>
                    <a:pt x="0" y="0"/>
                  </a:moveTo>
                  <a:lnTo>
                    <a:pt x="9473184" y="0"/>
                  </a:lnTo>
                  <a:lnTo>
                    <a:pt x="947318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932" r="0" b="-5093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473184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C7C7D7"/>
                  </a:solidFill>
                  <a:latin typeface="Roboto"/>
                  <a:ea typeface="Roboto"/>
                  <a:cs typeface="Roboto"/>
                  <a:sym typeface="Roboto"/>
                </a:rPr>
                <a:t>Talleres, clínicas, mentorías y asesorías para el ecosistema creativo.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57753" y="3208972"/>
            <a:ext cx="8180070" cy="4476750"/>
            <a:chOff x="0" y="0"/>
            <a:chExt cx="10906760" cy="5969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06760" cy="5969000"/>
            </a:xfrm>
            <a:custGeom>
              <a:avLst/>
              <a:gdLst/>
              <a:ahLst/>
              <a:cxnLst/>
              <a:rect r="r" b="b" t="t" l="l"/>
              <a:pathLst>
                <a:path h="5969000" w="10906760">
                  <a:moveTo>
                    <a:pt x="0" y="293878"/>
                  </a:moveTo>
                  <a:cubicBezTo>
                    <a:pt x="0" y="131572"/>
                    <a:pt x="131572" y="0"/>
                    <a:pt x="293878" y="0"/>
                  </a:cubicBezTo>
                  <a:lnTo>
                    <a:pt x="10612882" y="0"/>
                  </a:lnTo>
                  <a:cubicBezTo>
                    <a:pt x="10775188" y="0"/>
                    <a:pt x="10906760" y="131572"/>
                    <a:pt x="10906760" y="293878"/>
                  </a:cubicBezTo>
                  <a:lnTo>
                    <a:pt x="10906760" y="5675122"/>
                  </a:lnTo>
                  <a:cubicBezTo>
                    <a:pt x="10906760" y="5837428"/>
                    <a:pt x="10775188" y="5969000"/>
                    <a:pt x="10612882" y="5969000"/>
                  </a:cubicBezTo>
                  <a:lnTo>
                    <a:pt x="293878" y="5969000"/>
                  </a:lnTo>
                  <a:cubicBezTo>
                    <a:pt x="131572" y="5969000"/>
                    <a:pt x="0" y="5837428"/>
                    <a:pt x="0" y="5675122"/>
                  </a:cubicBezTo>
                  <a:close/>
                </a:path>
              </a:pathLst>
            </a:custGeom>
            <a:solidFill>
              <a:srgbClr val="293548"/>
            </a:solidFill>
            <a:ln w="19050" cap="sq">
              <a:solidFill>
                <a:srgbClr val="EC70D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906190" y="3657410"/>
            <a:ext cx="7200900" cy="658368"/>
            <a:chOff x="0" y="0"/>
            <a:chExt cx="9601200" cy="8778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01200" cy="877824"/>
            </a:xfrm>
            <a:custGeom>
              <a:avLst/>
              <a:gdLst/>
              <a:ahLst/>
              <a:cxnLst/>
              <a:rect r="r" b="b" t="t" l="l"/>
              <a:pathLst>
                <a:path h="877824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96012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>
                  <a:solidFill>
                    <a:srgbClr val="EC70D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GESTIÓN ARTÍSTICA INTEGRAL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06190" y="4562666"/>
            <a:ext cx="7200900" cy="685800"/>
            <a:chOff x="0" y="0"/>
            <a:chExt cx="96012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0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6012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b="true" sz="3150">
                  <a:solidFill>
                    <a:srgbClr val="F7F4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Proyectos de principio a fin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06190" y="5646230"/>
            <a:ext cx="7104888" cy="1371600"/>
            <a:chOff x="0" y="0"/>
            <a:chExt cx="9473184" cy="1828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473184" cy="1828800"/>
            </a:xfrm>
            <a:custGeom>
              <a:avLst/>
              <a:gdLst/>
              <a:ahLst/>
              <a:cxnLst/>
              <a:rect r="r" b="b" t="t" l="l"/>
              <a:pathLst>
                <a:path h="1828800" w="9473184">
                  <a:moveTo>
                    <a:pt x="0" y="0"/>
                  </a:moveTo>
                  <a:lnTo>
                    <a:pt x="9473184" y="0"/>
                  </a:lnTo>
                  <a:lnTo>
                    <a:pt x="947318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932" r="0" b="-5093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9473184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C7C7D7"/>
                  </a:solidFill>
                  <a:latin typeface="Roboto"/>
                  <a:ea typeface="Roboto"/>
                  <a:cs typeface="Roboto"/>
                  <a:sym typeface="Roboto"/>
                </a:rPr>
                <a:t>Planificación, producción musical y técnica, circulación y representación.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85253" y="8256460"/>
            <a:ext cx="16711422" cy="1280922"/>
            <a:chOff x="0" y="0"/>
            <a:chExt cx="22281896" cy="17078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281896" cy="1708023"/>
            </a:xfrm>
            <a:custGeom>
              <a:avLst/>
              <a:gdLst/>
              <a:ahLst/>
              <a:cxnLst/>
              <a:rect r="r" b="b" t="t" l="l"/>
              <a:pathLst>
                <a:path h="1708023" w="22281896">
                  <a:moveTo>
                    <a:pt x="0" y="297053"/>
                  </a:moveTo>
                  <a:cubicBezTo>
                    <a:pt x="0" y="132969"/>
                    <a:pt x="132969" y="0"/>
                    <a:pt x="297053" y="0"/>
                  </a:cubicBezTo>
                  <a:lnTo>
                    <a:pt x="21984843" y="0"/>
                  </a:lnTo>
                  <a:cubicBezTo>
                    <a:pt x="22148927" y="0"/>
                    <a:pt x="22281896" y="132969"/>
                    <a:pt x="22281896" y="297053"/>
                  </a:cubicBezTo>
                  <a:lnTo>
                    <a:pt x="22281896" y="1410970"/>
                  </a:lnTo>
                  <a:cubicBezTo>
                    <a:pt x="22281896" y="1575054"/>
                    <a:pt x="22148927" y="1708023"/>
                    <a:pt x="21984843" y="1708023"/>
                  </a:cubicBezTo>
                  <a:lnTo>
                    <a:pt x="297053" y="1708023"/>
                  </a:lnTo>
                  <a:cubicBezTo>
                    <a:pt x="132969" y="1707896"/>
                    <a:pt x="0" y="1574927"/>
                    <a:pt x="0" y="1410843"/>
                  </a:cubicBezTo>
                  <a:close/>
                </a:path>
              </a:pathLst>
            </a:custGeom>
            <a:solidFill>
              <a:srgbClr val="253145"/>
            </a:solidFill>
            <a:ln w="19050" cap="sq">
              <a:solidFill>
                <a:srgbClr val="4B5675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78826" y="8554022"/>
            <a:ext cx="16047720" cy="644652"/>
            <a:chOff x="0" y="0"/>
            <a:chExt cx="21396960" cy="8595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396961" cy="859536"/>
            </a:xfrm>
            <a:custGeom>
              <a:avLst/>
              <a:gdLst/>
              <a:ahLst/>
              <a:cxnLst/>
              <a:rect r="r" b="b" t="t" l="l"/>
              <a:pathLst>
                <a:path h="859536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5053" r="0" b="-43505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21396960" cy="869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CLIENTES: artistas · agrupaciones · centros culturales · universidades · municipios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3083753" y="49295"/>
            <a:ext cx="4742373" cy="2687974"/>
          </a:xfrm>
          <a:custGeom>
            <a:avLst/>
            <a:gdLst/>
            <a:ahLst/>
            <a:cxnLst/>
            <a:rect r="r" b="b" t="t" l="l"/>
            <a:pathLst>
              <a:path h="2687974" w="4742373">
                <a:moveTo>
                  <a:pt x="0" y="0"/>
                </a:moveTo>
                <a:lnTo>
                  <a:pt x="4742373" y="0"/>
                </a:lnTo>
                <a:lnTo>
                  <a:pt x="4742373" y="2687974"/>
                </a:lnTo>
                <a:lnTo>
                  <a:pt x="0" y="2687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</a:blip>
            <a:stretch>
              <a:fillRect l="-759" t="0" r="-794" b="0"/>
            </a:stretch>
          </a:blipFill>
        </p:spPr>
      </p:sp>
      <p:sp>
        <p:nvSpPr>
          <p:cNvPr name="AutoShape 36" id="36"/>
          <p:cNvSpPr/>
          <p:nvPr/>
        </p:nvSpPr>
        <p:spPr>
          <a:xfrm flipV="true">
            <a:off x="742958" y="1607082"/>
            <a:ext cx="12295644" cy="0"/>
          </a:xfrm>
          <a:prstGeom prst="line">
            <a:avLst/>
          </a:prstGeom>
          <a:ln cap="rnd" w="9525">
            <a:solidFill>
              <a:srgbClr val="B65AF6">
                <a:alpha val="70196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83753" y="49295"/>
            <a:ext cx="4742373" cy="2687974"/>
          </a:xfrm>
          <a:custGeom>
            <a:avLst/>
            <a:gdLst/>
            <a:ahLst/>
            <a:cxnLst/>
            <a:rect r="r" b="b" t="t" l="l"/>
            <a:pathLst>
              <a:path h="2687974" w="4742373">
                <a:moveTo>
                  <a:pt x="0" y="0"/>
                </a:moveTo>
                <a:lnTo>
                  <a:pt x="4742373" y="0"/>
                </a:lnTo>
                <a:lnTo>
                  <a:pt x="4742373" y="2687974"/>
                </a:lnTo>
                <a:lnTo>
                  <a:pt x="0" y="2687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-759" t="0" r="-794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742958" y="1607082"/>
            <a:ext cx="12295644" cy="0"/>
          </a:xfrm>
          <a:prstGeom prst="line">
            <a:avLst/>
          </a:prstGeom>
          <a:ln cap="rnd" w="9525">
            <a:solidFill>
              <a:srgbClr val="B65AF6">
                <a:alpha val="70196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42958" y="715542"/>
            <a:ext cx="16322040" cy="891540"/>
            <a:chOff x="0" y="0"/>
            <a:chExt cx="21762720" cy="1188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Proceso productivo y articulación local</a:t>
              </a:r>
            </a:p>
          </p:txBody>
        </p:sp>
      </p:grpSp>
      <p:sp>
        <p:nvSpPr>
          <p:cNvPr name="AutoShape 7" id="7"/>
          <p:cNvSpPr/>
          <p:nvPr/>
        </p:nvSpPr>
        <p:spPr>
          <a:xfrm rot="12720">
            <a:off x="1342968" y="4717732"/>
            <a:ext cx="15419175" cy="0"/>
          </a:xfrm>
          <a:prstGeom prst="line">
            <a:avLst/>
          </a:prstGeom>
          <a:ln cap="rnd" w="28575">
            <a:solidFill>
              <a:srgbClr val="B65A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78230" y="4205478"/>
            <a:ext cx="1080516" cy="1080516"/>
            <a:chOff x="0" y="0"/>
            <a:chExt cx="1440688" cy="14406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0688" cy="1440688"/>
            </a:xfrm>
            <a:custGeom>
              <a:avLst/>
              <a:gdLst/>
              <a:ahLst/>
              <a:cxnLst/>
              <a:rect r="r" b="b" t="t" l="l"/>
              <a:pathLst>
                <a:path h="1440688" w="1440688">
                  <a:moveTo>
                    <a:pt x="0" y="720344"/>
                  </a:moveTo>
                  <a:cubicBezTo>
                    <a:pt x="0" y="322453"/>
                    <a:pt x="322453" y="0"/>
                    <a:pt x="720344" y="0"/>
                  </a:cubicBezTo>
                  <a:cubicBezTo>
                    <a:pt x="1118235" y="0"/>
                    <a:pt x="1440688" y="322453"/>
                    <a:pt x="1440688" y="720344"/>
                  </a:cubicBezTo>
                  <a:cubicBezTo>
                    <a:pt x="1440688" y="1118235"/>
                    <a:pt x="1118235" y="1440688"/>
                    <a:pt x="720344" y="1440688"/>
                  </a:cubicBezTo>
                  <a:cubicBezTo>
                    <a:pt x="322453" y="1440688"/>
                    <a:pt x="0" y="1118235"/>
                    <a:pt x="0" y="720344"/>
                  </a:cubicBezTo>
                  <a:close/>
                </a:path>
              </a:pathLst>
            </a:custGeom>
            <a:solidFill>
              <a:srgbClr val="1E2A37"/>
            </a:solidFill>
            <a:ln w="3810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4416552"/>
            <a:ext cx="630936" cy="480060"/>
            <a:chOff x="0" y="0"/>
            <a:chExt cx="841248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1248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622" t="0" r="-4762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841248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80060" y="3127248"/>
            <a:ext cx="2331720" cy="644652"/>
            <a:chOff x="0" y="0"/>
            <a:chExt cx="3108960" cy="8595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08960" cy="859536"/>
            </a:xfrm>
            <a:custGeom>
              <a:avLst/>
              <a:gdLst/>
              <a:ahLst/>
              <a:cxnLst/>
              <a:rect r="r" b="b" t="t" l="l"/>
              <a:pathLst>
                <a:path h="85953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77" r="0" b="-2047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108960" cy="859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Diagnóstico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986022" y="4205478"/>
            <a:ext cx="1080516" cy="1080516"/>
            <a:chOff x="0" y="0"/>
            <a:chExt cx="1440688" cy="14406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40688" cy="1440688"/>
            </a:xfrm>
            <a:custGeom>
              <a:avLst/>
              <a:gdLst/>
              <a:ahLst/>
              <a:cxnLst/>
              <a:rect r="r" b="b" t="t" l="l"/>
              <a:pathLst>
                <a:path h="1440688" w="1440688">
                  <a:moveTo>
                    <a:pt x="0" y="720344"/>
                  </a:moveTo>
                  <a:cubicBezTo>
                    <a:pt x="0" y="322453"/>
                    <a:pt x="322453" y="0"/>
                    <a:pt x="720344" y="0"/>
                  </a:cubicBezTo>
                  <a:cubicBezTo>
                    <a:pt x="1118235" y="0"/>
                    <a:pt x="1440688" y="322453"/>
                    <a:pt x="1440688" y="720344"/>
                  </a:cubicBezTo>
                  <a:cubicBezTo>
                    <a:pt x="1440688" y="1118235"/>
                    <a:pt x="1118235" y="1440688"/>
                    <a:pt x="720344" y="1440688"/>
                  </a:cubicBezTo>
                  <a:cubicBezTo>
                    <a:pt x="322453" y="1440688"/>
                    <a:pt x="0" y="1118235"/>
                    <a:pt x="0" y="720344"/>
                  </a:cubicBezTo>
                  <a:close/>
                </a:path>
              </a:pathLst>
            </a:custGeom>
            <a:solidFill>
              <a:srgbClr val="1E2A37"/>
            </a:solidFill>
            <a:ln w="3810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210812" y="4416552"/>
            <a:ext cx="630936" cy="480060"/>
            <a:chOff x="0" y="0"/>
            <a:chExt cx="841248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248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622" t="0" r="-4762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841248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387852" y="5733288"/>
            <a:ext cx="2331720" cy="644652"/>
            <a:chOff x="0" y="0"/>
            <a:chExt cx="3108960" cy="8595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08960" cy="859536"/>
            </a:xfrm>
            <a:custGeom>
              <a:avLst/>
              <a:gdLst/>
              <a:ahLst/>
              <a:cxnLst/>
              <a:rect r="r" b="b" t="t" l="l"/>
              <a:pathLst>
                <a:path h="85953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77" r="0" b="-2047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108960" cy="859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EC70D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Diseño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893814" y="4205478"/>
            <a:ext cx="1080516" cy="1080516"/>
            <a:chOff x="0" y="0"/>
            <a:chExt cx="1440688" cy="14406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40688" cy="1440688"/>
            </a:xfrm>
            <a:custGeom>
              <a:avLst/>
              <a:gdLst/>
              <a:ahLst/>
              <a:cxnLst/>
              <a:rect r="r" b="b" t="t" l="l"/>
              <a:pathLst>
                <a:path h="1440688" w="1440688">
                  <a:moveTo>
                    <a:pt x="0" y="720344"/>
                  </a:moveTo>
                  <a:cubicBezTo>
                    <a:pt x="0" y="322453"/>
                    <a:pt x="322453" y="0"/>
                    <a:pt x="720344" y="0"/>
                  </a:cubicBezTo>
                  <a:cubicBezTo>
                    <a:pt x="1118235" y="0"/>
                    <a:pt x="1440688" y="322453"/>
                    <a:pt x="1440688" y="720344"/>
                  </a:cubicBezTo>
                  <a:cubicBezTo>
                    <a:pt x="1440688" y="1118235"/>
                    <a:pt x="1118235" y="1440688"/>
                    <a:pt x="720344" y="1440688"/>
                  </a:cubicBezTo>
                  <a:cubicBezTo>
                    <a:pt x="322453" y="1440688"/>
                    <a:pt x="0" y="1118235"/>
                    <a:pt x="0" y="720344"/>
                  </a:cubicBezTo>
                  <a:close/>
                </a:path>
              </a:pathLst>
            </a:custGeom>
            <a:solidFill>
              <a:srgbClr val="1E2A37"/>
            </a:solidFill>
            <a:ln w="3810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118604" y="4416552"/>
            <a:ext cx="630936" cy="480060"/>
            <a:chOff x="0" y="0"/>
            <a:chExt cx="841248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248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622" t="0" r="-4762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841248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295644" y="3127248"/>
            <a:ext cx="2331720" cy="644652"/>
            <a:chOff x="0" y="0"/>
            <a:chExt cx="3108960" cy="8595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08960" cy="859536"/>
            </a:xfrm>
            <a:custGeom>
              <a:avLst/>
              <a:gdLst/>
              <a:ahLst/>
              <a:cxnLst/>
              <a:rect r="r" b="b" t="t" l="l"/>
              <a:pathLst>
                <a:path h="85953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77" r="0" b="-2047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08960" cy="859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Articulación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801606" y="4205478"/>
            <a:ext cx="1080516" cy="1080516"/>
            <a:chOff x="0" y="0"/>
            <a:chExt cx="1440688" cy="14406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40688" cy="1440688"/>
            </a:xfrm>
            <a:custGeom>
              <a:avLst/>
              <a:gdLst/>
              <a:ahLst/>
              <a:cxnLst/>
              <a:rect r="r" b="b" t="t" l="l"/>
              <a:pathLst>
                <a:path h="1440688" w="1440688">
                  <a:moveTo>
                    <a:pt x="0" y="720344"/>
                  </a:moveTo>
                  <a:cubicBezTo>
                    <a:pt x="0" y="322453"/>
                    <a:pt x="322453" y="0"/>
                    <a:pt x="720344" y="0"/>
                  </a:cubicBezTo>
                  <a:cubicBezTo>
                    <a:pt x="1118235" y="0"/>
                    <a:pt x="1440688" y="322453"/>
                    <a:pt x="1440688" y="720344"/>
                  </a:cubicBezTo>
                  <a:cubicBezTo>
                    <a:pt x="1440688" y="1118235"/>
                    <a:pt x="1118235" y="1440688"/>
                    <a:pt x="720344" y="1440688"/>
                  </a:cubicBezTo>
                  <a:cubicBezTo>
                    <a:pt x="322453" y="1440688"/>
                    <a:pt x="0" y="1118235"/>
                    <a:pt x="0" y="720344"/>
                  </a:cubicBezTo>
                  <a:close/>
                </a:path>
              </a:pathLst>
            </a:custGeom>
            <a:solidFill>
              <a:srgbClr val="1E2A37"/>
            </a:solidFill>
            <a:ln w="3810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026396" y="4416552"/>
            <a:ext cx="630936" cy="480060"/>
            <a:chOff x="0" y="0"/>
            <a:chExt cx="841248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41248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622" t="0" r="-47622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841248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203436" y="5733288"/>
            <a:ext cx="2331720" cy="644652"/>
            <a:chOff x="0" y="0"/>
            <a:chExt cx="3108960" cy="8595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108960" cy="859536"/>
            </a:xfrm>
            <a:custGeom>
              <a:avLst/>
              <a:gdLst/>
              <a:ahLst/>
              <a:cxnLst/>
              <a:rect r="r" b="b" t="t" l="l"/>
              <a:pathLst>
                <a:path h="85953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77" r="0" b="-2047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108960" cy="859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EC70D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Ejecución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709398" y="4205478"/>
            <a:ext cx="1080516" cy="1080516"/>
            <a:chOff x="0" y="0"/>
            <a:chExt cx="1440688" cy="14406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40688" cy="1440688"/>
            </a:xfrm>
            <a:custGeom>
              <a:avLst/>
              <a:gdLst/>
              <a:ahLst/>
              <a:cxnLst/>
              <a:rect r="r" b="b" t="t" l="l"/>
              <a:pathLst>
                <a:path h="1440688" w="1440688">
                  <a:moveTo>
                    <a:pt x="0" y="720344"/>
                  </a:moveTo>
                  <a:cubicBezTo>
                    <a:pt x="0" y="322453"/>
                    <a:pt x="322453" y="0"/>
                    <a:pt x="720344" y="0"/>
                  </a:cubicBezTo>
                  <a:cubicBezTo>
                    <a:pt x="1118235" y="0"/>
                    <a:pt x="1440688" y="322453"/>
                    <a:pt x="1440688" y="720344"/>
                  </a:cubicBezTo>
                  <a:cubicBezTo>
                    <a:pt x="1440688" y="1118235"/>
                    <a:pt x="1118235" y="1440688"/>
                    <a:pt x="720344" y="1440688"/>
                  </a:cubicBezTo>
                  <a:cubicBezTo>
                    <a:pt x="322453" y="1440688"/>
                    <a:pt x="0" y="1118235"/>
                    <a:pt x="0" y="720344"/>
                  </a:cubicBezTo>
                  <a:close/>
                </a:path>
              </a:pathLst>
            </a:custGeom>
            <a:solidFill>
              <a:srgbClr val="1E2A37"/>
            </a:solidFill>
            <a:ln w="3810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934188" y="4416552"/>
            <a:ext cx="630936" cy="480060"/>
            <a:chOff x="0" y="0"/>
            <a:chExt cx="841248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41248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622" t="0" r="-47622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841248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111228" y="3127248"/>
            <a:ext cx="2331720" cy="644652"/>
            <a:chOff x="0" y="0"/>
            <a:chExt cx="3108960" cy="8595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08960" cy="859536"/>
            </a:xfrm>
            <a:custGeom>
              <a:avLst/>
              <a:gdLst/>
              <a:ahLst/>
              <a:cxnLst/>
              <a:rect r="r" b="b" t="t" l="l"/>
              <a:pathLst>
                <a:path h="85953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77" r="0" b="-2047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08960" cy="859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Difusión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617190" y="4205478"/>
            <a:ext cx="1080516" cy="1080516"/>
            <a:chOff x="0" y="0"/>
            <a:chExt cx="1440688" cy="144068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40688" cy="1440688"/>
            </a:xfrm>
            <a:custGeom>
              <a:avLst/>
              <a:gdLst/>
              <a:ahLst/>
              <a:cxnLst/>
              <a:rect r="r" b="b" t="t" l="l"/>
              <a:pathLst>
                <a:path h="1440688" w="1440688">
                  <a:moveTo>
                    <a:pt x="0" y="720344"/>
                  </a:moveTo>
                  <a:cubicBezTo>
                    <a:pt x="0" y="322453"/>
                    <a:pt x="322453" y="0"/>
                    <a:pt x="720344" y="0"/>
                  </a:cubicBezTo>
                  <a:cubicBezTo>
                    <a:pt x="1118235" y="0"/>
                    <a:pt x="1440688" y="322453"/>
                    <a:pt x="1440688" y="720344"/>
                  </a:cubicBezTo>
                  <a:cubicBezTo>
                    <a:pt x="1440688" y="1118235"/>
                    <a:pt x="1118235" y="1440688"/>
                    <a:pt x="720344" y="1440688"/>
                  </a:cubicBezTo>
                  <a:cubicBezTo>
                    <a:pt x="322453" y="1440688"/>
                    <a:pt x="0" y="1118235"/>
                    <a:pt x="0" y="720344"/>
                  </a:cubicBezTo>
                  <a:close/>
                </a:path>
              </a:pathLst>
            </a:custGeom>
            <a:solidFill>
              <a:srgbClr val="1E2A37"/>
            </a:solidFill>
            <a:ln w="3810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5841980" y="4416552"/>
            <a:ext cx="630936" cy="480060"/>
            <a:chOff x="0" y="0"/>
            <a:chExt cx="841248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41248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622" t="0" r="-47622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841248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019020" y="5733288"/>
            <a:ext cx="2331720" cy="644652"/>
            <a:chOff x="0" y="0"/>
            <a:chExt cx="3108960" cy="8595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108960" cy="859536"/>
            </a:xfrm>
            <a:custGeom>
              <a:avLst/>
              <a:gdLst/>
              <a:ahLst/>
              <a:cxnLst/>
              <a:rect r="r" b="b" t="t" l="l"/>
              <a:pathLst>
                <a:path h="85953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77" r="0" b="-2047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108960" cy="859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EC70D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Evaluación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87755" y="7328535"/>
            <a:ext cx="16066770" cy="1527810"/>
            <a:chOff x="0" y="0"/>
            <a:chExt cx="21422360" cy="2037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422359" cy="2037080"/>
            </a:xfrm>
            <a:custGeom>
              <a:avLst/>
              <a:gdLst/>
              <a:ahLst/>
              <a:cxnLst/>
              <a:rect r="r" b="b" t="t" l="l"/>
              <a:pathLst>
                <a:path h="2037080" w="21422359">
                  <a:moveTo>
                    <a:pt x="0" y="296291"/>
                  </a:moveTo>
                  <a:cubicBezTo>
                    <a:pt x="0" y="132715"/>
                    <a:pt x="132715" y="0"/>
                    <a:pt x="296291" y="0"/>
                  </a:cubicBezTo>
                  <a:lnTo>
                    <a:pt x="21126069" y="0"/>
                  </a:lnTo>
                  <a:cubicBezTo>
                    <a:pt x="21289645" y="0"/>
                    <a:pt x="21422359" y="132715"/>
                    <a:pt x="21422359" y="296291"/>
                  </a:cubicBezTo>
                  <a:lnTo>
                    <a:pt x="21422359" y="1740789"/>
                  </a:lnTo>
                  <a:cubicBezTo>
                    <a:pt x="21422359" y="1904365"/>
                    <a:pt x="21289645" y="2037080"/>
                    <a:pt x="21126069" y="2037080"/>
                  </a:cubicBezTo>
                  <a:lnTo>
                    <a:pt x="296291" y="2037080"/>
                  </a:lnTo>
                  <a:cubicBezTo>
                    <a:pt x="132715" y="2037080"/>
                    <a:pt x="0" y="1904365"/>
                    <a:pt x="0" y="1740789"/>
                  </a:cubicBezTo>
                  <a:close/>
                </a:path>
              </a:pathLst>
            </a:custGeom>
            <a:solidFill>
              <a:srgbClr val="293548"/>
            </a:solidFill>
            <a:ln w="19050" cap="sq">
              <a:solidFill>
                <a:srgbClr val="76509B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508760" y="7598664"/>
            <a:ext cx="6995160" cy="521208"/>
            <a:chOff x="0" y="0"/>
            <a:chExt cx="9326880" cy="6949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326880" cy="694944"/>
            </a:xfrm>
            <a:custGeom>
              <a:avLst/>
              <a:gdLst/>
              <a:ahLst/>
              <a:cxnLst/>
              <a:rect r="r" b="b" t="t" l="l"/>
              <a:pathLst>
                <a:path h="694944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509" r="0" b="-21150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9525"/>
              <a:ext cx="9326880" cy="685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B65AF6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Encadenamiento productivo local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08760" y="8257032"/>
            <a:ext cx="14950440" cy="425196"/>
            <a:chOff x="0" y="0"/>
            <a:chExt cx="19933920" cy="5669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933920" cy="566928"/>
            </a:xfrm>
            <a:custGeom>
              <a:avLst/>
              <a:gdLst/>
              <a:ahLst/>
              <a:cxnLst/>
              <a:rect r="r" b="b" t="t" l="l"/>
              <a:pathLst>
                <a:path h="566928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5119" r="0" b="-63511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9933920" cy="576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7C7D7"/>
                  </a:solidFill>
                  <a:latin typeface="Roboto"/>
                  <a:ea typeface="Roboto"/>
                  <a:cs typeface="Roboto"/>
                  <a:sym typeface="Roboto"/>
                </a:rPr>
                <a:t>Proveedores técnicos · instituciones culturales · establecimientos educacionales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2958" y="715542"/>
            <a:ext cx="16322040" cy="891540"/>
            <a:chOff x="0" y="0"/>
            <a:chExt cx="2176272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Formalización jurídica, administrativa y tributaria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390775"/>
            <a:ext cx="5436870" cy="6438138"/>
            <a:chOff x="0" y="0"/>
            <a:chExt cx="7249160" cy="85841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49160" cy="8584184"/>
            </a:xfrm>
            <a:custGeom>
              <a:avLst/>
              <a:gdLst/>
              <a:ahLst/>
              <a:cxnLst/>
              <a:rect r="r" b="b" t="t" l="l"/>
              <a:pathLst>
                <a:path h="8584184" w="7249160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6955536" y="0"/>
                  </a:lnTo>
                  <a:cubicBezTo>
                    <a:pt x="7117715" y="0"/>
                    <a:pt x="7249160" y="131445"/>
                    <a:pt x="7249160" y="293624"/>
                  </a:cubicBezTo>
                  <a:lnTo>
                    <a:pt x="7249160" y="8290560"/>
                  </a:lnTo>
                  <a:cubicBezTo>
                    <a:pt x="7249160" y="8452739"/>
                    <a:pt x="7117715" y="8584184"/>
                    <a:pt x="6955536" y="8584184"/>
                  </a:cubicBezTo>
                  <a:lnTo>
                    <a:pt x="293624" y="8584184"/>
                  </a:lnTo>
                  <a:cubicBezTo>
                    <a:pt x="131445" y="8584184"/>
                    <a:pt x="0" y="8452739"/>
                    <a:pt x="0" y="8290560"/>
                  </a:cubicBezTo>
                  <a:close/>
                </a:path>
              </a:pathLst>
            </a:custGeom>
            <a:solidFill>
              <a:srgbClr val="293548"/>
            </a:solidFill>
            <a:ln w="1905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38428" y="2839212"/>
            <a:ext cx="4800600" cy="768096"/>
            <a:chOff x="0" y="0"/>
            <a:chExt cx="6400800" cy="10241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0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64008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>
                  <a:solidFill>
                    <a:srgbClr val="B65AF6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MARCO LEGAL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14219">
            <a:off x="1224896" y="3918014"/>
            <a:ext cx="4613948" cy="0"/>
          </a:xfrm>
          <a:prstGeom prst="line">
            <a:avLst/>
          </a:prstGeom>
          <a:ln cap="rnd" w="9525">
            <a:solidFill>
              <a:srgbClr val="76509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307211" y="4407027"/>
            <a:ext cx="156210" cy="156210"/>
            <a:chOff x="0" y="0"/>
            <a:chExt cx="208280" cy="208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B65AF6"/>
            </a:solidFill>
            <a:ln w="1905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14500" y="4251960"/>
            <a:ext cx="4087368" cy="672084"/>
            <a:chOff x="0" y="0"/>
            <a:chExt cx="5449824" cy="8961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49824" cy="896112"/>
            </a:xfrm>
            <a:custGeom>
              <a:avLst/>
              <a:gdLst/>
              <a:ahLst/>
              <a:cxnLst/>
              <a:rect r="r" b="b" t="t" l="l"/>
              <a:pathLst>
                <a:path h="896112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00" r="0" b="-685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449824" cy="91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Junta general constitutiva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07211" y="5367147"/>
            <a:ext cx="156210" cy="156210"/>
            <a:chOff x="0" y="0"/>
            <a:chExt cx="208280" cy="208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B65AF6"/>
            </a:solidFill>
            <a:ln w="1905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714500" y="5212080"/>
            <a:ext cx="4087368" cy="672084"/>
            <a:chOff x="0" y="0"/>
            <a:chExt cx="5449824" cy="8961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49824" cy="896112"/>
            </a:xfrm>
            <a:custGeom>
              <a:avLst/>
              <a:gdLst/>
              <a:ahLst/>
              <a:cxnLst/>
              <a:rect r="r" b="b" t="t" l="l"/>
              <a:pathLst>
                <a:path h="896112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00" r="0" b="-685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449824" cy="91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Aprobación de estatutos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7211" y="6327267"/>
            <a:ext cx="156210" cy="156210"/>
            <a:chOff x="0" y="0"/>
            <a:chExt cx="208280" cy="208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B65AF6"/>
            </a:solidFill>
            <a:ln w="1905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714500" y="6172200"/>
            <a:ext cx="4087368" cy="672084"/>
            <a:chOff x="0" y="0"/>
            <a:chExt cx="5449824" cy="8961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49824" cy="896112"/>
            </a:xfrm>
            <a:custGeom>
              <a:avLst/>
              <a:gdLst/>
              <a:ahLst/>
              <a:cxnLst/>
              <a:rect r="r" b="b" t="t" l="l"/>
              <a:pathLst>
                <a:path h="896112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00" r="0" b="-685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449824" cy="91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Escritura pública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07211" y="7287387"/>
            <a:ext cx="156210" cy="156210"/>
            <a:chOff x="0" y="0"/>
            <a:chExt cx="208280" cy="208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B65AF6"/>
            </a:solidFill>
            <a:ln w="1905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714500" y="7132320"/>
            <a:ext cx="4087368" cy="672084"/>
            <a:chOff x="0" y="0"/>
            <a:chExt cx="5449824" cy="8961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49824" cy="896112"/>
            </a:xfrm>
            <a:custGeom>
              <a:avLst/>
              <a:gdLst/>
              <a:ahLst/>
              <a:cxnLst/>
              <a:rect r="r" b="b" t="t" l="l"/>
              <a:pathLst>
                <a:path h="896112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00" r="0" b="-685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449824" cy="91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Inscripción y publicación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642735" y="2390775"/>
            <a:ext cx="5436870" cy="6438138"/>
            <a:chOff x="0" y="0"/>
            <a:chExt cx="7249160" cy="85841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49160" cy="8584184"/>
            </a:xfrm>
            <a:custGeom>
              <a:avLst/>
              <a:gdLst/>
              <a:ahLst/>
              <a:cxnLst/>
              <a:rect r="r" b="b" t="t" l="l"/>
              <a:pathLst>
                <a:path h="8584184" w="7249160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6955536" y="0"/>
                  </a:lnTo>
                  <a:cubicBezTo>
                    <a:pt x="7117715" y="0"/>
                    <a:pt x="7249160" y="131445"/>
                    <a:pt x="7249160" y="293624"/>
                  </a:cubicBezTo>
                  <a:lnTo>
                    <a:pt x="7249160" y="8290560"/>
                  </a:lnTo>
                  <a:cubicBezTo>
                    <a:pt x="7249160" y="8452739"/>
                    <a:pt x="7117715" y="8584184"/>
                    <a:pt x="6955536" y="8584184"/>
                  </a:cubicBezTo>
                  <a:lnTo>
                    <a:pt x="293624" y="8584184"/>
                  </a:lnTo>
                  <a:cubicBezTo>
                    <a:pt x="131445" y="8584184"/>
                    <a:pt x="0" y="8452739"/>
                    <a:pt x="0" y="8290560"/>
                  </a:cubicBezTo>
                  <a:close/>
                </a:path>
              </a:pathLst>
            </a:custGeom>
            <a:solidFill>
              <a:srgbClr val="293548"/>
            </a:solidFill>
            <a:ln w="1905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967728" y="2839212"/>
            <a:ext cx="4800600" cy="768096"/>
            <a:chOff x="0" y="0"/>
            <a:chExt cx="6400800" cy="1024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00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4008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>
                  <a:solidFill>
                    <a:srgbClr val="B65AF6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ADMINISTRACIÓN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14219">
            <a:off x="7054196" y="3918014"/>
            <a:ext cx="4613948" cy="0"/>
          </a:xfrm>
          <a:prstGeom prst="line">
            <a:avLst/>
          </a:prstGeom>
          <a:ln cap="rnd" w="9525">
            <a:solidFill>
              <a:srgbClr val="76509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7136511" y="4407027"/>
            <a:ext cx="156210" cy="156210"/>
            <a:chOff x="0" y="0"/>
            <a:chExt cx="208280" cy="208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B65AF6"/>
            </a:solidFill>
            <a:ln w="1905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543800" y="4251960"/>
            <a:ext cx="4087368" cy="672084"/>
            <a:chOff x="0" y="0"/>
            <a:chExt cx="5449824" cy="89611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49824" cy="896112"/>
            </a:xfrm>
            <a:custGeom>
              <a:avLst/>
              <a:gdLst/>
              <a:ahLst/>
              <a:cxnLst/>
              <a:rect r="r" b="b" t="t" l="l"/>
              <a:pathLst>
                <a:path h="896112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00" r="0" b="-685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449824" cy="91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Junta general de socios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136511" y="5367147"/>
            <a:ext cx="156210" cy="156210"/>
            <a:chOff x="0" y="0"/>
            <a:chExt cx="208280" cy="208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B65AF6"/>
            </a:solidFill>
            <a:ln w="1905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543800" y="5212080"/>
            <a:ext cx="4087368" cy="672084"/>
            <a:chOff x="0" y="0"/>
            <a:chExt cx="5449824" cy="89611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49824" cy="896112"/>
            </a:xfrm>
            <a:custGeom>
              <a:avLst/>
              <a:gdLst/>
              <a:ahLst/>
              <a:cxnLst/>
              <a:rect r="r" b="b" t="t" l="l"/>
              <a:pathLst>
                <a:path h="896112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00" r="0" b="-6850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5449824" cy="91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Consejo de administración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136511" y="6327267"/>
            <a:ext cx="156210" cy="156210"/>
            <a:chOff x="0" y="0"/>
            <a:chExt cx="208280" cy="208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B65AF6"/>
            </a:solidFill>
            <a:ln w="1905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543800" y="6172200"/>
            <a:ext cx="4087368" cy="672084"/>
            <a:chOff x="0" y="0"/>
            <a:chExt cx="5449824" cy="89611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49824" cy="896112"/>
            </a:xfrm>
            <a:custGeom>
              <a:avLst/>
              <a:gdLst/>
              <a:ahLst/>
              <a:cxnLst/>
              <a:rect r="r" b="b" t="t" l="l"/>
              <a:pathLst>
                <a:path h="896112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00" r="0" b="-685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5449824" cy="91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Gerencia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136511" y="7287387"/>
            <a:ext cx="156210" cy="156210"/>
            <a:chOff x="0" y="0"/>
            <a:chExt cx="208280" cy="208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B65AF6"/>
            </a:solidFill>
            <a:ln w="19050" cap="sq">
              <a:solidFill>
                <a:srgbClr val="B65AF6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7543800" y="7132320"/>
            <a:ext cx="4087368" cy="672084"/>
            <a:chOff x="0" y="0"/>
            <a:chExt cx="5449824" cy="8961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49824" cy="896112"/>
            </a:xfrm>
            <a:custGeom>
              <a:avLst/>
              <a:gdLst/>
              <a:ahLst/>
              <a:cxnLst/>
              <a:rect r="r" b="b" t="t" l="l"/>
              <a:pathLst>
                <a:path h="896112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00" r="0" b="-6850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5449824" cy="91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Junta de vigilancia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472035" y="2390775"/>
            <a:ext cx="5436870" cy="6438138"/>
            <a:chOff x="0" y="0"/>
            <a:chExt cx="7249160" cy="858418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249160" cy="8584184"/>
            </a:xfrm>
            <a:custGeom>
              <a:avLst/>
              <a:gdLst/>
              <a:ahLst/>
              <a:cxnLst/>
              <a:rect r="r" b="b" t="t" l="l"/>
              <a:pathLst>
                <a:path h="8584184" w="7249160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6955536" y="0"/>
                  </a:lnTo>
                  <a:cubicBezTo>
                    <a:pt x="7117715" y="0"/>
                    <a:pt x="7249160" y="131445"/>
                    <a:pt x="7249160" y="293624"/>
                  </a:cubicBezTo>
                  <a:lnTo>
                    <a:pt x="7249160" y="8290560"/>
                  </a:lnTo>
                  <a:cubicBezTo>
                    <a:pt x="7249160" y="8452739"/>
                    <a:pt x="7117715" y="8584184"/>
                    <a:pt x="6955536" y="8584184"/>
                  </a:cubicBezTo>
                  <a:lnTo>
                    <a:pt x="293624" y="8584184"/>
                  </a:lnTo>
                  <a:cubicBezTo>
                    <a:pt x="131445" y="8584184"/>
                    <a:pt x="0" y="8452739"/>
                    <a:pt x="0" y="8290560"/>
                  </a:cubicBezTo>
                  <a:close/>
                </a:path>
              </a:pathLst>
            </a:custGeom>
            <a:solidFill>
              <a:srgbClr val="293548"/>
            </a:solidFill>
            <a:ln w="19050" cap="sq">
              <a:solidFill>
                <a:srgbClr val="EC70DF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2797028" y="2839212"/>
            <a:ext cx="4800600" cy="768096"/>
            <a:chOff x="0" y="0"/>
            <a:chExt cx="6400800" cy="10241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400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64008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>
                  <a:solidFill>
                    <a:srgbClr val="EC70D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GESTIÓN TRIBUTARIA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 rot="14219">
            <a:off x="12883496" y="3918014"/>
            <a:ext cx="4613948" cy="0"/>
          </a:xfrm>
          <a:prstGeom prst="line">
            <a:avLst/>
          </a:prstGeom>
          <a:ln cap="rnd" w="9525">
            <a:solidFill>
              <a:srgbClr val="76509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12965811" y="4407027"/>
            <a:ext cx="156210" cy="156210"/>
            <a:chOff x="0" y="0"/>
            <a:chExt cx="208280" cy="2082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EC70DF"/>
            </a:solidFill>
            <a:ln w="19050" cap="sq">
              <a:solidFill>
                <a:srgbClr val="EC70DF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3373100" y="4251960"/>
            <a:ext cx="4087368" cy="672084"/>
            <a:chOff x="0" y="0"/>
            <a:chExt cx="5449824" cy="89611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49824" cy="896112"/>
            </a:xfrm>
            <a:custGeom>
              <a:avLst/>
              <a:gdLst/>
              <a:ahLst/>
              <a:cxnLst/>
              <a:rect r="r" b="b" t="t" l="l"/>
              <a:pathLst>
                <a:path h="896112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00" r="0" b="-6850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5449824" cy="91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Contabilidad formal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965811" y="5367147"/>
            <a:ext cx="156210" cy="156210"/>
            <a:chOff x="0" y="0"/>
            <a:chExt cx="208280" cy="208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EC70DF"/>
            </a:solidFill>
            <a:ln w="19050" cap="sq">
              <a:solidFill>
                <a:srgbClr val="EC70DF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3373100" y="5212080"/>
            <a:ext cx="4087368" cy="672084"/>
            <a:chOff x="0" y="0"/>
            <a:chExt cx="5449824" cy="89611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449824" cy="896112"/>
            </a:xfrm>
            <a:custGeom>
              <a:avLst/>
              <a:gdLst/>
              <a:ahLst/>
              <a:cxnLst/>
              <a:rect r="r" b="b" t="t" l="l"/>
              <a:pathLst>
                <a:path h="896112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00" r="0" b="-6850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5449824" cy="91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Registro de ingresos y egresos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965811" y="6327267"/>
            <a:ext cx="156210" cy="156210"/>
            <a:chOff x="0" y="0"/>
            <a:chExt cx="208280" cy="2082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EC70DF"/>
            </a:solidFill>
            <a:ln w="19050" cap="sq">
              <a:solidFill>
                <a:srgbClr val="EC70DF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3373100" y="6172200"/>
            <a:ext cx="4087368" cy="672084"/>
            <a:chOff x="0" y="0"/>
            <a:chExt cx="5449824" cy="89611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449824" cy="896112"/>
            </a:xfrm>
            <a:custGeom>
              <a:avLst/>
              <a:gdLst/>
              <a:ahLst/>
              <a:cxnLst/>
              <a:rect r="r" b="b" t="t" l="l"/>
              <a:pathLst>
                <a:path h="896112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00" r="0" b="-6850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5449824" cy="91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Obligaciones tributarias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965811" y="7287387"/>
            <a:ext cx="156210" cy="156210"/>
            <a:chOff x="0" y="0"/>
            <a:chExt cx="208280" cy="2082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EC70DF"/>
            </a:solidFill>
            <a:ln w="19050" cap="sq">
              <a:solidFill>
                <a:srgbClr val="EC70DF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3373100" y="7132320"/>
            <a:ext cx="4087368" cy="672084"/>
            <a:chOff x="0" y="0"/>
            <a:chExt cx="5449824" cy="89611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449824" cy="896112"/>
            </a:xfrm>
            <a:custGeom>
              <a:avLst/>
              <a:gdLst/>
              <a:ahLst/>
              <a:cxnLst/>
              <a:rect r="r" b="b" t="t" l="l"/>
              <a:pathLst>
                <a:path h="896112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00" r="0" b="-6850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5449824" cy="91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Asesoría especializada</a:t>
              </a:r>
            </a:p>
          </p:txBody>
        </p:sp>
      </p:grpSp>
      <p:sp>
        <p:nvSpPr>
          <p:cNvPr name="AutoShape 83" id="83"/>
          <p:cNvSpPr/>
          <p:nvPr/>
        </p:nvSpPr>
        <p:spPr>
          <a:xfrm flipV="true">
            <a:off x="742958" y="1607082"/>
            <a:ext cx="12295644" cy="0"/>
          </a:xfrm>
          <a:prstGeom prst="line">
            <a:avLst/>
          </a:prstGeom>
          <a:ln cap="rnd" w="9525">
            <a:solidFill>
              <a:srgbClr val="B65AF6">
                <a:alpha val="7019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4" id="84"/>
          <p:cNvSpPr/>
          <p:nvPr/>
        </p:nvSpPr>
        <p:spPr>
          <a:xfrm flipH="false" flipV="false" rot="0">
            <a:off x="13083753" y="49295"/>
            <a:ext cx="4742373" cy="2687974"/>
          </a:xfrm>
          <a:custGeom>
            <a:avLst/>
            <a:gdLst/>
            <a:ahLst/>
            <a:cxnLst/>
            <a:rect r="r" b="b" t="t" l="l"/>
            <a:pathLst>
              <a:path h="2687974" w="4742373">
                <a:moveTo>
                  <a:pt x="0" y="0"/>
                </a:moveTo>
                <a:lnTo>
                  <a:pt x="4742373" y="0"/>
                </a:lnTo>
                <a:lnTo>
                  <a:pt x="4742373" y="2687974"/>
                </a:lnTo>
                <a:lnTo>
                  <a:pt x="0" y="2687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</a:blip>
            <a:stretch>
              <a:fillRect l="-759" t="0" r="-794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83753" y="49295"/>
            <a:ext cx="4742373" cy="2687974"/>
          </a:xfrm>
          <a:custGeom>
            <a:avLst/>
            <a:gdLst/>
            <a:ahLst/>
            <a:cxnLst/>
            <a:rect r="r" b="b" t="t" l="l"/>
            <a:pathLst>
              <a:path h="2687974" w="4742373">
                <a:moveTo>
                  <a:pt x="0" y="0"/>
                </a:moveTo>
                <a:lnTo>
                  <a:pt x="4742373" y="0"/>
                </a:lnTo>
                <a:lnTo>
                  <a:pt x="4742373" y="2687974"/>
                </a:lnTo>
                <a:lnTo>
                  <a:pt x="0" y="2687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-759" t="0" r="-79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7552" y="1920240"/>
            <a:ext cx="9738360" cy="603504"/>
            <a:chOff x="0" y="0"/>
            <a:chExt cx="12984480" cy="8046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84480" cy="804672"/>
            </a:xfrm>
            <a:custGeom>
              <a:avLst/>
              <a:gdLst/>
              <a:ahLst/>
              <a:cxnLst/>
              <a:rect r="r" b="b" t="t" l="l"/>
              <a:pathLst>
                <a:path h="804672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417" r="0" b="-26441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2984480" cy="823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C7C7D7"/>
                  </a:solidFill>
                  <a:latin typeface="Roboto"/>
                  <a:ea typeface="Roboto"/>
                  <a:cs typeface="Roboto"/>
                  <a:sym typeface="Roboto"/>
                </a:rPr>
                <a:t>Subsidio solicitado a SERCOTEC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7552" y="2674620"/>
            <a:ext cx="9601200" cy="960120"/>
            <a:chOff x="0" y="0"/>
            <a:chExt cx="12801600" cy="1280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28016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739"/>
                </a:lnSpc>
              </a:pPr>
              <a:r>
                <a:rPr lang="en-US" sz="645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$10.000.000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4984" y="3840480"/>
            <a:ext cx="14950440" cy="548640"/>
            <a:chOff x="0" y="0"/>
            <a:chExt cx="1993392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33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967" r="0" b="-48096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933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C7C7D7"/>
                  </a:solidFill>
                  <a:latin typeface="Roboto"/>
                  <a:ea typeface="Roboto"/>
                  <a:cs typeface="Roboto"/>
                  <a:sym typeface="Roboto"/>
                </a:rPr>
                <a:t>Proyecto total: $11.900.000 (incluye IVA)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7755" y="4859655"/>
            <a:ext cx="15998190" cy="1006602"/>
            <a:chOff x="0" y="0"/>
            <a:chExt cx="21330920" cy="1342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09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330920">
                  <a:moveTo>
                    <a:pt x="0" y="298196"/>
                  </a:moveTo>
                  <a:cubicBezTo>
                    <a:pt x="0" y="133477"/>
                    <a:pt x="133477" y="0"/>
                    <a:pt x="298196" y="0"/>
                  </a:cubicBezTo>
                  <a:lnTo>
                    <a:pt x="21032724" y="0"/>
                  </a:lnTo>
                  <a:cubicBezTo>
                    <a:pt x="21197443" y="0"/>
                    <a:pt x="21330920" y="133477"/>
                    <a:pt x="21330920" y="298196"/>
                  </a:cubicBezTo>
                  <a:lnTo>
                    <a:pt x="21330920" y="1043940"/>
                  </a:lnTo>
                  <a:cubicBezTo>
                    <a:pt x="21330920" y="1208659"/>
                    <a:pt x="21197443" y="1342136"/>
                    <a:pt x="21032724" y="1342136"/>
                  </a:cubicBezTo>
                  <a:lnTo>
                    <a:pt x="298196" y="1342136"/>
                  </a:lnTo>
                  <a:cubicBezTo>
                    <a:pt x="133477" y="1342136"/>
                    <a:pt x="0" y="1208659"/>
                    <a:pt x="0" y="1043940"/>
                  </a:cubicBezTo>
                  <a:close/>
                </a:path>
              </a:pathLst>
            </a:custGeom>
            <a:solidFill>
              <a:srgbClr val="263345"/>
            </a:solidFill>
            <a:ln w="19050" cap="sq">
              <a:solidFill>
                <a:srgbClr val="4B5675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01471" y="4887087"/>
            <a:ext cx="8610752" cy="951738"/>
            <a:chOff x="0" y="0"/>
            <a:chExt cx="11481003" cy="1268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81054" cy="1268984"/>
            </a:xfrm>
            <a:custGeom>
              <a:avLst/>
              <a:gdLst/>
              <a:ahLst/>
              <a:cxnLst/>
              <a:rect r="r" b="b" t="t" l="l"/>
              <a:pathLst>
                <a:path h="1268984" w="11481054">
                  <a:moveTo>
                    <a:pt x="0" y="0"/>
                  </a:moveTo>
                  <a:lnTo>
                    <a:pt x="11481054" y="0"/>
                  </a:lnTo>
                  <a:lnTo>
                    <a:pt x="11481054" y="1268984"/>
                  </a:lnTo>
                  <a:lnTo>
                    <a:pt x="0" y="1268984"/>
                  </a:lnTo>
                  <a:close/>
                </a:path>
              </a:pathLst>
            </a:custGeom>
            <a:solidFill>
              <a:srgbClr val="B65AF6">
                <a:alpha val="1294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81328" y="5033772"/>
            <a:ext cx="1508760" cy="576072"/>
            <a:chOff x="0" y="0"/>
            <a:chExt cx="2011680" cy="7680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1680" cy="768096"/>
            </a:xfrm>
            <a:custGeom>
              <a:avLst/>
              <a:gdLst/>
              <a:ahLst/>
              <a:cxnLst/>
              <a:rect r="r" b="b" t="t" l="l"/>
              <a:pathLst>
                <a:path h="76809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2" r="0" b="-103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0116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>
                  <a:solidFill>
                    <a:srgbClr val="B65AF6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54%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086100" y="5047488"/>
            <a:ext cx="8641080" cy="576072"/>
            <a:chOff x="0" y="0"/>
            <a:chExt cx="11521440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21440" cy="768096"/>
            </a:xfrm>
            <a:custGeom>
              <a:avLst/>
              <a:gdLst/>
              <a:ahLst/>
              <a:cxnLst/>
              <a:rect r="r" b="b" t="t" l="l"/>
              <a:pathLst>
                <a:path h="768096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152144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Gestión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098780" y="5033772"/>
            <a:ext cx="3360420" cy="576072"/>
            <a:chOff x="0" y="0"/>
            <a:chExt cx="4480560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80560" cy="768096"/>
            </a:xfrm>
            <a:custGeom>
              <a:avLst/>
              <a:gdLst/>
              <a:ahLst/>
              <a:cxnLst/>
              <a:rect r="r" b="b" t="t" l="l"/>
              <a:pathLst>
                <a:path h="76809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448056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b="true" sz="2700">
                  <a:solidFill>
                    <a:srgbClr val="F7F4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$5.400.000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7755" y="6121527"/>
            <a:ext cx="15998190" cy="1006602"/>
            <a:chOff x="0" y="0"/>
            <a:chExt cx="21330920" cy="13421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3309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330920">
                  <a:moveTo>
                    <a:pt x="0" y="298196"/>
                  </a:moveTo>
                  <a:cubicBezTo>
                    <a:pt x="0" y="133477"/>
                    <a:pt x="133477" y="0"/>
                    <a:pt x="298196" y="0"/>
                  </a:cubicBezTo>
                  <a:lnTo>
                    <a:pt x="21032724" y="0"/>
                  </a:lnTo>
                  <a:cubicBezTo>
                    <a:pt x="21197443" y="0"/>
                    <a:pt x="21330920" y="133477"/>
                    <a:pt x="21330920" y="298196"/>
                  </a:cubicBezTo>
                  <a:lnTo>
                    <a:pt x="21330920" y="1043940"/>
                  </a:lnTo>
                  <a:cubicBezTo>
                    <a:pt x="21330920" y="1208659"/>
                    <a:pt x="21197443" y="1342136"/>
                    <a:pt x="21032724" y="1342136"/>
                  </a:cubicBezTo>
                  <a:lnTo>
                    <a:pt x="298196" y="1342136"/>
                  </a:lnTo>
                  <a:cubicBezTo>
                    <a:pt x="133477" y="1342136"/>
                    <a:pt x="0" y="1208659"/>
                    <a:pt x="0" y="1043940"/>
                  </a:cubicBezTo>
                  <a:close/>
                </a:path>
              </a:pathLst>
            </a:custGeom>
            <a:solidFill>
              <a:srgbClr val="263345"/>
            </a:solidFill>
            <a:ln w="19050" cap="sq">
              <a:solidFill>
                <a:srgbClr val="4B567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01471" y="6148959"/>
            <a:ext cx="3519373" cy="951738"/>
            <a:chOff x="0" y="0"/>
            <a:chExt cx="4692498" cy="12689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92523" cy="1268984"/>
            </a:xfrm>
            <a:custGeom>
              <a:avLst/>
              <a:gdLst/>
              <a:ahLst/>
              <a:cxnLst/>
              <a:rect r="r" b="b" t="t" l="l"/>
              <a:pathLst>
                <a:path h="1268984" w="4692523">
                  <a:moveTo>
                    <a:pt x="0" y="0"/>
                  </a:moveTo>
                  <a:lnTo>
                    <a:pt x="4692523" y="0"/>
                  </a:lnTo>
                  <a:lnTo>
                    <a:pt x="4692523" y="1268984"/>
                  </a:lnTo>
                  <a:lnTo>
                    <a:pt x="0" y="1268984"/>
                  </a:lnTo>
                  <a:close/>
                </a:path>
              </a:pathLst>
            </a:custGeom>
            <a:solidFill>
              <a:srgbClr val="EC70DF">
                <a:alpha val="12941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81328" y="6295644"/>
            <a:ext cx="1508760" cy="576072"/>
            <a:chOff x="0" y="0"/>
            <a:chExt cx="2011680" cy="7680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11680" cy="768096"/>
            </a:xfrm>
            <a:custGeom>
              <a:avLst/>
              <a:gdLst/>
              <a:ahLst/>
              <a:cxnLst/>
              <a:rect r="r" b="b" t="t" l="l"/>
              <a:pathLst>
                <a:path h="76809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2" r="0" b="-103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0116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>
                  <a:solidFill>
                    <a:srgbClr val="EC70D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22%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086100" y="6309360"/>
            <a:ext cx="8641080" cy="576072"/>
            <a:chOff x="0" y="0"/>
            <a:chExt cx="11521440" cy="7680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521440" cy="768096"/>
            </a:xfrm>
            <a:custGeom>
              <a:avLst/>
              <a:gdLst/>
              <a:ahLst/>
              <a:cxnLst/>
              <a:rect r="r" b="b" t="t" l="l"/>
              <a:pathLst>
                <a:path h="768096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152144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Inversiones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098780" y="6295644"/>
            <a:ext cx="3360420" cy="576072"/>
            <a:chOff x="0" y="0"/>
            <a:chExt cx="4480560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80560" cy="768096"/>
            </a:xfrm>
            <a:custGeom>
              <a:avLst/>
              <a:gdLst/>
              <a:ahLst/>
              <a:cxnLst/>
              <a:rect r="r" b="b" t="t" l="l"/>
              <a:pathLst>
                <a:path h="76809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448056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b="true" sz="2700">
                  <a:solidFill>
                    <a:srgbClr val="F7F4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$2.200.000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87755" y="7383399"/>
            <a:ext cx="15998190" cy="1006602"/>
            <a:chOff x="0" y="0"/>
            <a:chExt cx="21330920" cy="13421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3309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330920">
                  <a:moveTo>
                    <a:pt x="0" y="298196"/>
                  </a:moveTo>
                  <a:cubicBezTo>
                    <a:pt x="0" y="133477"/>
                    <a:pt x="133477" y="0"/>
                    <a:pt x="298196" y="0"/>
                  </a:cubicBezTo>
                  <a:lnTo>
                    <a:pt x="21032724" y="0"/>
                  </a:lnTo>
                  <a:cubicBezTo>
                    <a:pt x="21197443" y="0"/>
                    <a:pt x="21330920" y="133477"/>
                    <a:pt x="21330920" y="298196"/>
                  </a:cubicBezTo>
                  <a:lnTo>
                    <a:pt x="21330920" y="1043940"/>
                  </a:lnTo>
                  <a:cubicBezTo>
                    <a:pt x="21330920" y="1208659"/>
                    <a:pt x="21197443" y="1342136"/>
                    <a:pt x="21032724" y="1342136"/>
                  </a:cubicBezTo>
                  <a:lnTo>
                    <a:pt x="298196" y="1342136"/>
                  </a:lnTo>
                  <a:cubicBezTo>
                    <a:pt x="133477" y="1342136"/>
                    <a:pt x="0" y="1208659"/>
                    <a:pt x="0" y="1043940"/>
                  </a:cubicBezTo>
                  <a:close/>
                </a:path>
              </a:pathLst>
            </a:custGeom>
            <a:solidFill>
              <a:srgbClr val="263345"/>
            </a:solidFill>
            <a:ln w="19050" cap="sq">
              <a:solidFill>
                <a:srgbClr val="4B567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01471" y="7410831"/>
            <a:ext cx="3837584" cy="951738"/>
            <a:chOff x="0" y="0"/>
            <a:chExt cx="5116779" cy="12689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16830" cy="1268984"/>
            </a:xfrm>
            <a:custGeom>
              <a:avLst/>
              <a:gdLst/>
              <a:ahLst/>
              <a:cxnLst/>
              <a:rect r="r" b="b" t="t" l="l"/>
              <a:pathLst>
                <a:path h="1268984" w="5116830">
                  <a:moveTo>
                    <a:pt x="0" y="0"/>
                  </a:moveTo>
                  <a:lnTo>
                    <a:pt x="5116830" y="0"/>
                  </a:lnTo>
                  <a:lnTo>
                    <a:pt x="5116830" y="1268984"/>
                  </a:lnTo>
                  <a:lnTo>
                    <a:pt x="0" y="1268984"/>
                  </a:lnTo>
                  <a:close/>
                </a:path>
              </a:pathLst>
            </a:custGeom>
            <a:solidFill>
              <a:srgbClr val="F3B96B">
                <a:alpha val="12941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81328" y="7557516"/>
            <a:ext cx="1508760" cy="576072"/>
            <a:chOff x="0" y="0"/>
            <a:chExt cx="2011680" cy="7680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11680" cy="768096"/>
            </a:xfrm>
            <a:custGeom>
              <a:avLst/>
              <a:gdLst/>
              <a:ahLst/>
              <a:cxnLst/>
              <a:rect r="r" b="b" t="t" l="l"/>
              <a:pathLst>
                <a:path h="76809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2" r="0" b="-103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0116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>
                  <a:solidFill>
                    <a:srgbClr val="F3B96B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24%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086100" y="7571232"/>
            <a:ext cx="8641080" cy="576072"/>
            <a:chOff x="0" y="0"/>
            <a:chExt cx="11521440" cy="7680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521440" cy="768096"/>
            </a:xfrm>
            <a:custGeom>
              <a:avLst/>
              <a:gdLst/>
              <a:ahLst/>
              <a:cxnLst/>
              <a:rect r="r" b="b" t="t" l="l"/>
              <a:pathLst>
                <a:path h="768096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152144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7F4FF"/>
                  </a:solidFill>
                  <a:latin typeface="Roboto"/>
                  <a:ea typeface="Roboto"/>
                  <a:cs typeface="Roboto"/>
                  <a:sym typeface="Roboto"/>
                </a:rPr>
                <a:t>Capital de trabajo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098780" y="7557516"/>
            <a:ext cx="3360420" cy="576072"/>
            <a:chOff x="0" y="0"/>
            <a:chExt cx="4480560" cy="7680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80560" cy="768096"/>
            </a:xfrm>
            <a:custGeom>
              <a:avLst/>
              <a:gdLst/>
              <a:ahLst/>
              <a:cxnLst/>
              <a:rect r="r" b="b" t="t" l="l"/>
              <a:pathLst>
                <a:path h="76809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448056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b="true" sz="2700">
                  <a:solidFill>
                    <a:srgbClr val="F7F4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$2.400.000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flipV="true">
            <a:off x="742958" y="1607082"/>
            <a:ext cx="12295644" cy="0"/>
          </a:xfrm>
          <a:prstGeom prst="line">
            <a:avLst/>
          </a:prstGeom>
          <a:ln cap="rnd" w="9525">
            <a:solidFill>
              <a:srgbClr val="B65AF6">
                <a:alpha val="70196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742958" y="715542"/>
            <a:ext cx="16322040" cy="891540"/>
            <a:chOff x="0" y="0"/>
            <a:chExt cx="21762720" cy="11887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Benef</a:t>
              </a:r>
              <a:r>
                <a:rPr lang="en-US" sz="435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icios y uso de los recursos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2958" y="715542"/>
            <a:ext cx="16322040" cy="891540"/>
            <a:chOff x="0" y="0"/>
            <a:chExt cx="2176272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Benef</a:t>
              </a:r>
              <a:r>
                <a:rPr lang="en-US" sz="435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icios y uso de los recursos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8" y="2847647"/>
            <a:ext cx="5660742" cy="6177901"/>
            <a:chOff x="0" y="0"/>
            <a:chExt cx="7547656" cy="823720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547656" cy="8237201"/>
              <a:chOff x="0" y="0"/>
              <a:chExt cx="7249160" cy="791143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249160" cy="7911435"/>
              </a:xfrm>
              <a:custGeom>
                <a:avLst/>
                <a:gdLst/>
                <a:ahLst/>
                <a:cxnLst/>
                <a:rect r="r" b="b" t="t" l="l"/>
                <a:pathLst>
                  <a:path h="7911435" w="7249160">
                    <a:moveTo>
                      <a:pt x="0" y="270612"/>
                    </a:moveTo>
                    <a:cubicBezTo>
                      <a:pt x="0" y="121144"/>
                      <a:pt x="131445" y="0"/>
                      <a:pt x="293624" y="0"/>
                    </a:cubicBezTo>
                    <a:lnTo>
                      <a:pt x="6955536" y="0"/>
                    </a:lnTo>
                    <a:cubicBezTo>
                      <a:pt x="7117715" y="0"/>
                      <a:pt x="7249160" y="121144"/>
                      <a:pt x="7249160" y="270612"/>
                    </a:cubicBezTo>
                    <a:lnTo>
                      <a:pt x="7249160" y="7640822"/>
                    </a:lnTo>
                    <a:cubicBezTo>
                      <a:pt x="7249160" y="7790291"/>
                      <a:pt x="7117715" y="7911435"/>
                      <a:pt x="6955536" y="7911435"/>
                    </a:cubicBezTo>
                    <a:lnTo>
                      <a:pt x="293624" y="7911435"/>
                    </a:lnTo>
                    <a:cubicBezTo>
                      <a:pt x="131445" y="7911435"/>
                      <a:pt x="0" y="7790291"/>
                      <a:pt x="0" y="7640822"/>
                    </a:cubicBezTo>
                    <a:close/>
                  </a:path>
                </a:pathLst>
              </a:custGeom>
              <a:solidFill>
                <a:srgbClr val="293548"/>
              </a:solidFill>
              <a:ln w="19050" cap="sq">
                <a:solidFill>
                  <a:srgbClr val="B65AF6"/>
                </a:solidFill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451167" y="622536"/>
              <a:ext cx="6664364" cy="1066298"/>
              <a:chOff x="0" y="0"/>
              <a:chExt cx="6400800" cy="102412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400800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6400800">
                    <a:moveTo>
                      <a:pt x="0" y="0"/>
                    </a:moveTo>
                    <a:lnTo>
                      <a:pt x="6400800" y="0"/>
                    </a:lnTo>
                    <a:lnTo>
                      <a:pt x="6400800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1781" r="0" b="-71781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0"/>
                <a:ext cx="6400800" cy="10241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780"/>
                  </a:lnSpc>
                </a:pPr>
                <a:r>
                  <a:rPr lang="en-US" sz="3150">
                    <a:solidFill>
                      <a:srgbClr val="B65AF6"/>
                    </a:solidFill>
                    <a:latin typeface="Chau Philomene"/>
                    <a:ea typeface="Chau Philomene"/>
                    <a:cs typeface="Chau Philomene"/>
                    <a:sym typeface="Chau Philomene"/>
                  </a:rPr>
                  <a:t>Pre Cooperativa</a:t>
                </a:r>
              </a:p>
            </p:txBody>
          </p:sp>
        </p:grpSp>
        <p:sp>
          <p:nvSpPr>
            <p:cNvPr name="AutoShape 11" id="11"/>
            <p:cNvSpPr/>
            <p:nvPr/>
          </p:nvSpPr>
          <p:spPr>
            <a:xfrm>
              <a:off x="571232" y="2113531"/>
              <a:ext cx="6405192" cy="26495"/>
            </a:xfrm>
            <a:prstGeom prst="line">
              <a:avLst/>
            </a:prstGeom>
            <a:ln cap="rnd" w="13223">
              <a:solidFill>
                <a:srgbClr val="76509B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2" id="12"/>
            <p:cNvGrpSpPr/>
            <p:nvPr/>
          </p:nvGrpSpPr>
          <p:grpSpPr>
            <a:xfrm rot="0">
              <a:off x="685477" y="2799033"/>
              <a:ext cx="216856" cy="216856"/>
              <a:chOff x="0" y="0"/>
              <a:chExt cx="208280" cy="2082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8280" cy="208280"/>
              </a:xfrm>
              <a:custGeom>
                <a:avLst/>
                <a:gdLst/>
                <a:ahLst/>
                <a:cxnLst/>
                <a:rect r="r" b="b" t="t" l="l"/>
                <a:pathLst>
                  <a:path h="208280" w="208280">
                    <a:moveTo>
                      <a:pt x="0" y="104140"/>
                    </a:moveTo>
                    <a:cubicBezTo>
                      <a:pt x="0" y="46609"/>
                      <a:pt x="46609" y="0"/>
                      <a:pt x="104140" y="0"/>
                    </a:cubicBezTo>
                    <a:cubicBezTo>
                      <a:pt x="161671" y="0"/>
                      <a:pt x="208280" y="46609"/>
                      <a:pt x="208280" y="104140"/>
                    </a:cubicBezTo>
                    <a:cubicBezTo>
                      <a:pt x="208280" y="161671"/>
                      <a:pt x="161671" y="208280"/>
                      <a:pt x="104140" y="208280"/>
                    </a:cubicBezTo>
                    <a:cubicBezTo>
                      <a:pt x="46609" y="208280"/>
                      <a:pt x="0" y="161671"/>
                      <a:pt x="0" y="104140"/>
                    </a:cubicBezTo>
                    <a:close/>
                  </a:path>
                </a:pathLst>
              </a:custGeom>
              <a:solidFill>
                <a:srgbClr val="B65AF6"/>
              </a:solidFill>
              <a:ln w="19050" cap="sq">
                <a:solidFill>
                  <a:srgbClr val="B65AF6"/>
                </a:solidFill>
                <a:prstDash val="solid"/>
                <a:miter/>
              </a:ln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250890" y="2583763"/>
              <a:ext cx="5674230" cy="1081828"/>
              <a:chOff x="0" y="0"/>
              <a:chExt cx="5449824" cy="103904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449824" cy="1039044"/>
              </a:xfrm>
              <a:custGeom>
                <a:avLst/>
                <a:gdLst/>
                <a:ahLst/>
                <a:cxnLst/>
                <a:rect r="r" b="b" t="t" l="l"/>
                <a:pathLst>
                  <a:path h="1039044" w="5449824">
                    <a:moveTo>
                      <a:pt x="0" y="0"/>
                    </a:moveTo>
                    <a:lnTo>
                      <a:pt x="5449824" y="0"/>
                    </a:lnTo>
                    <a:lnTo>
                      <a:pt x="5449824" y="1039044"/>
                    </a:lnTo>
                    <a:lnTo>
                      <a:pt x="0" y="103904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59077" r="0" b="-45321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5449824" cy="104856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99"/>
                  </a:lnSpc>
                </a:pPr>
                <a:r>
                  <a:rPr lang="en-US" sz="2249">
                    <a:solidFill>
                      <a:srgbClr val="F7F4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Catastro interno de Capacidades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685477" y="4131905"/>
              <a:ext cx="216856" cy="216856"/>
              <a:chOff x="0" y="0"/>
              <a:chExt cx="208280" cy="2082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08280" cy="208280"/>
              </a:xfrm>
              <a:custGeom>
                <a:avLst/>
                <a:gdLst/>
                <a:ahLst/>
                <a:cxnLst/>
                <a:rect r="r" b="b" t="t" l="l"/>
                <a:pathLst>
                  <a:path h="208280" w="208280">
                    <a:moveTo>
                      <a:pt x="0" y="104140"/>
                    </a:moveTo>
                    <a:cubicBezTo>
                      <a:pt x="0" y="46609"/>
                      <a:pt x="46609" y="0"/>
                      <a:pt x="104140" y="0"/>
                    </a:cubicBezTo>
                    <a:cubicBezTo>
                      <a:pt x="161671" y="0"/>
                      <a:pt x="208280" y="46609"/>
                      <a:pt x="208280" y="104140"/>
                    </a:cubicBezTo>
                    <a:cubicBezTo>
                      <a:pt x="208280" y="161671"/>
                      <a:pt x="161671" y="208280"/>
                      <a:pt x="104140" y="208280"/>
                    </a:cubicBezTo>
                    <a:cubicBezTo>
                      <a:pt x="46609" y="208280"/>
                      <a:pt x="0" y="161671"/>
                      <a:pt x="0" y="104140"/>
                    </a:cubicBezTo>
                    <a:close/>
                  </a:path>
                </a:pathLst>
              </a:custGeom>
              <a:solidFill>
                <a:srgbClr val="B65AF6"/>
              </a:solidFill>
              <a:ln w="19050" cap="sq">
                <a:solidFill>
                  <a:srgbClr val="B65AF6"/>
                </a:solidFill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50890" y="3916636"/>
              <a:ext cx="5674230" cy="1081828"/>
              <a:chOff x="0" y="0"/>
              <a:chExt cx="5449824" cy="103904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449824" cy="1039044"/>
              </a:xfrm>
              <a:custGeom>
                <a:avLst/>
                <a:gdLst/>
                <a:ahLst/>
                <a:cxnLst/>
                <a:rect r="r" b="b" t="t" l="l"/>
                <a:pathLst>
                  <a:path h="1039044" w="5449824">
                    <a:moveTo>
                      <a:pt x="0" y="0"/>
                    </a:moveTo>
                    <a:lnTo>
                      <a:pt x="5449824" y="0"/>
                    </a:lnTo>
                    <a:lnTo>
                      <a:pt x="5449824" y="1039044"/>
                    </a:lnTo>
                    <a:lnTo>
                      <a:pt x="0" y="103904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59077" r="0" b="-45321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9525"/>
                <a:ext cx="5449824" cy="104856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99"/>
                  </a:lnSpc>
                </a:pPr>
                <a:r>
                  <a:rPr lang="en-US" sz="2249">
                    <a:solidFill>
                      <a:srgbClr val="F7F4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Construcción de red de Confianza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685477" y="5464778"/>
              <a:ext cx="216856" cy="216856"/>
              <a:chOff x="0" y="0"/>
              <a:chExt cx="208280" cy="20828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08280" cy="208280"/>
              </a:xfrm>
              <a:custGeom>
                <a:avLst/>
                <a:gdLst/>
                <a:ahLst/>
                <a:cxnLst/>
                <a:rect r="r" b="b" t="t" l="l"/>
                <a:pathLst>
                  <a:path h="208280" w="208280">
                    <a:moveTo>
                      <a:pt x="0" y="104140"/>
                    </a:moveTo>
                    <a:cubicBezTo>
                      <a:pt x="0" y="46609"/>
                      <a:pt x="46609" y="0"/>
                      <a:pt x="104140" y="0"/>
                    </a:cubicBezTo>
                    <a:cubicBezTo>
                      <a:pt x="161671" y="0"/>
                      <a:pt x="208280" y="46609"/>
                      <a:pt x="208280" y="104140"/>
                    </a:cubicBezTo>
                    <a:cubicBezTo>
                      <a:pt x="208280" y="161671"/>
                      <a:pt x="161671" y="208280"/>
                      <a:pt x="104140" y="208280"/>
                    </a:cubicBezTo>
                    <a:cubicBezTo>
                      <a:pt x="46609" y="208280"/>
                      <a:pt x="0" y="161671"/>
                      <a:pt x="0" y="104140"/>
                    </a:cubicBezTo>
                    <a:close/>
                  </a:path>
                </a:pathLst>
              </a:custGeom>
              <a:solidFill>
                <a:srgbClr val="B65AF6"/>
              </a:solidFill>
              <a:ln w="19050" cap="sq">
                <a:solidFill>
                  <a:srgbClr val="B65AF6"/>
                </a:solidFill>
                <a:prstDash val="solid"/>
                <a:miter/>
              </a:ln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1250890" y="5249509"/>
              <a:ext cx="5674230" cy="1081828"/>
              <a:chOff x="0" y="0"/>
              <a:chExt cx="5449824" cy="103904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5449824" cy="1039044"/>
              </a:xfrm>
              <a:custGeom>
                <a:avLst/>
                <a:gdLst/>
                <a:ahLst/>
                <a:cxnLst/>
                <a:rect r="r" b="b" t="t" l="l"/>
                <a:pathLst>
                  <a:path h="1039044" w="5449824">
                    <a:moveTo>
                      <a:pt x="0" y="0"/>
                    </a:moveTo>
                    <a:lnTo>
                      <a:pt x="5449824" y="0"/>
                    </a:lnTo>
                    <a:lnTo>
                      <a:pt x="5449824" y="1039044"/>
                    </a:lnTo>
                    <a:lnTo>
                      <a:pt x="0" y="103904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59077" r="0" b="-45321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5449824" cy="104856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99"/>
                  </a:lnSpc>
                </a:pPr>
                <a:r>
                  <a:rPr lang="en-US" sz="2249">
                    <a:solidFill>
                      <a:srgbClr val="F7F4FF"/>
                    </a:solidFill>
                    <a:latin typeface="Roboto"/>
                    <a:ea typeface="Roboto"/>
                    <a:cs typeface="Roboto"/>
                    <a:sym typeface="Roboto"/>
                  </a:rPr>
                  <a:t>Diseño de proyectos pilotos conjuntos</a:t>
                </a: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11717027" y="2847647"/>
            <a:ext cx="5660742" cy="6177901"/>
            <a:chOff x="0" y="0"/>
            <a:chExt cx="7547656" cy="8237201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7547656" cy="8237201"/>
              <a:chOff x="0" y="0"/>
              <a:chExt cx="7249160" cy="791143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249160" cy="7911435"/>
              </a:xfrm>
              <a:custGeom>
                <a:avLst/>
                <a:gdLst/>
                <a:ahLst/>
                <a:cxnLst/>
                <a:rect r="r" b="b" t="t" l="l"/>
                <a:pathLst>
                  <a:path h="7911435" w="7249160">
                    <a:moveTo>
                      <a:pt x="0" y="270612"/>
                    </a:moveTo>
                    <a:cubicBezTo>
                      <a:pt x="0" y="121144"/>
                      <a:pt x="131445" y="0"/>
                      <a:pt x="293624" y="0"/>
                    </a:cubicBezTo>
                    <a:lnTo>
                      <a:pt x="6955536" y="0"/>
                    </a:lnTo>
                    <a:cubicBezTo>
                      <a:pt x="7117715" y="0"/>
                      <a:pt x="7249160" y="121144"/>
                      <a:pt x="7249160" y="270612"/>
                    </a:cubicBezTo>
                    <a:lnTo>
                      <a:pt x="7249160" y="7640822"/>
                    </a:lnTo>
                    <a:cubicBezTo>
                      <a:pt x="7249160" y="7790291"/>
                      <a:pt x="7117715" y="7911435"/>
                      <a:pt x="6955536" y="7911435"/>
                    </a:cubicBezTo>
                    <a:lnTo>
                      <a:pt x="293624" y="7911435"/>
                    </a:lnTo>
                    <a:cubicBezTo>
                      <a:pt x="131445" y="7911435"/>
                      <a:pt x="0" y="7790291"/>
                      <a:pt x="0" y="7640822"/>
                    </a:cubicBezTo>
                    <a:close/>
                  </a:path>
                </a:pathLst>
              </a:custGeom>
              <a:solidFill>
                <a:srgbClr val="293548"/>
              </a:solidFill>
              <a:ln w="19050" cap="sq">
                <a:solidFill>
                  <a:srgbClr val="B65AF6"/>
                </a:solidFill>
                <a:prstDash val="solid"/>
                <a:miter/>
              </a:ln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441646" y="622536"/>
              <a:ext cx="6664364" cy="1066298"/>
              <a:chOff x="0" y="0"/>
              <a:chExt cx="6400800" cy="102412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400800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6400800">
                    <a:moveTo>
                      <a:pt x="0" y="0"/>
                    </a:moveTo>
                    <a:lnTo>
                      <a:pt x="6400800" y="0"/>
                    </a:lnTo>
                    <a:lnTo>
                      <a:pt x="6400800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1781" r="0" b="-71781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0"/>
                <a:ext cx="6400800" cy="10241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780"/>
                  </a:lnSpc>
                </a:pPr>
                <a:r>
                  <a:rPr lang="en-US" sz="3150">
                    <a:solidFill>
                      <a:srgbClr val="B65AF6"/>
                    </a:solidFill>
                    <a:latin typeface="Chau Philomene"/>
                    <a:ea typeface="Chau Philomene"/>
                    <a:cs typeface="Chau Philomene"/>
                    <a:sym typeface="Chau Philomene"/>
                  </a:rPr>
                  <a:t>Consolidación comercial</a:t>
                </a:r>
              </a:p>
            </p:txBody>
          </p:sp>
        </p:grpSp>
        <p:sp>
          <p:nvSpPr>
            <p:cNvPr name="AutoShape 33" id="33"/>
            <p:cNvSpPr/>
            <p:nvPr/>
          </p:nvSpPr>
          <p:spPr>
            <a:xfrm>
              <a:off x="571232" y="2146637"/>
              <a:ext cx="6405192" cy="26495"/>
            </a:xfrm>
            <a:prstGeom prst="line">
              <a:avLst/>
            </a:prstGeom>
            <a:ln cap="rnd" w="13223">
              <a:solidFill>
                <a:srgbClr val="76509B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4" id="34"/>
            <p:cNvGrpSpPr/>
            <p:nvPr/>
          </p:nvGrpSpPr>
          <p:grpSpPr>
            <a:xfrm rot="0">
              <a:off x="1250890" y="2870223"/>
              <a:ext cx="5542000" cy="1081828"/>
              <a:chOff x="0" y="0"/>
              <a:chExt cx="5322824" cy="103904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5322824" cy="1039044"/>
              </a:xfrm>
              <a:custGeom>
                <a:avLst/>
                <a:gdLst/>
                <a:ahLst/>
                <a:cxnLst/>
                <a:rect r="r" b="b" t="t" l="l"/>
                <a:pathLst>
                  <a:path h="1039044" w="5322824">
                    <a:moveTo>
                      <a:pt x="0" y="0"/>
                    </a:moveTo>
                    <a:lnTo>
                      <a:pt x="5322824" y="0"/>
                    </a:lnTo>
                    <a:lnTo>
                      <a:pt x="5322824" y="1039044"/>
                    </a:lnTo>
                    <a:lnTo>
                      <a:pt x="0" y="103904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59077" r="-2385" b="-45321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9525"/>
                <a:ext cx="5322824" cy="104856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99"/>
                  </a:lnSpc>
                </a:pPr>
                <a:r>
                  <a:rPr lang="en-US" sz="2249">
                    <a:solidFill>
                      <a:srgbClr val="F7F4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Formalidad operativa y tributaria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250890" y="4351913"/>
              <a:ext cx="5674230" cy="1081828"/>
              <a:chOff x="0" y="0"/>
              <a:chExt cx="5449824" cy="1039044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449824" cy="1039044"/>
              </a:xfrm>
              <a:custGeom>
                <a:avLst/>
                <a:gdLst/>
                <a:ahLst/>
                <a:cxnLst/>
                <a:rect r="r" b="b" t="t" l="l"/>
                <a:pathLst>
                  <a:path h="1039044" w="5449824">
                    <a:moveTo>
                      <a:pt x="0" y="0"/>
                    </a:moveTo>
                    <a:lnTo>
                      <a:pt x="5449824" y="0"/>
                    </a:lnTo>
                    <a:lnTo>
                      <a:pt x="5449824" y="1039044"/>
                    </a:lnTo>
                    <a:lnTo>
                      <a:pt x="0" y="103904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59077" r="0" b="-45321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9525"/>
                <a:ext cx="5449824" cy="104856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99"/>
                  </a:lnSpc>
                </a:pPr>
                <a:r>
                  <a:rPr lang="en-US" sz="2249">
                    <a:solidFill>
                      <a:srgbClr val="F7F4FF"/>
                    </a:solidFill>
                    <a:latin typeface="Roboto"/>
                    <a:ea typeface="Roboto"/>
                    <a:cs typeface="Roboto"/>
                    <a:sym typeface="Roboto"/>
                  </a:rPr>
                  <a:t>Distribución eficiente de responsabilidades y ganancias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250890" y="5833603"/>
              <a:ext cx="5674230" cy="1557854"/>
              <a:chOff x="0" y="0"/>
              <a:chExt cx="5449824" cy="1496244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449824" cy="1496244"/>
              </a:xfrm>
              <a:custGeom>
                <a:avLst/>
                <a:gdLst/>
                <a:ahLst/>
                <a:cxnLst/>
                <a:rect r="r" b="b" t="t" l="l"/>
                <a:pathLst>
                  <a:path h="1496244" w="5449824">
                    <a:moveTo>
                      <a:pt x="0" y="0"/>
                    </a:moveTo>
                    <a:lnTo>
                      <a:pt x="5449824" y="0"/>
                    </a:lnTo>
                    <a:lnTo>
                      <a:pt x="5449824" y="1496244"/>
                    </a:lnTo>
                    <a:lnTo>
                      <a:pt x="0" y="149624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41025" r="0" b="-916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9525"/>
                <a:ext cx="5449824" cy="150576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99"/>
                  </a:lnSpc>
                </a:pPr>
                <a:r>
                  <a:rPr lang="en-US" sz="2249">
                    <a:solidFill>
                      <a:srgbClr val="F7F4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Consolidación como el principal Nodo Regional de Servicios Culturales del Maule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646545" y="3135953"/>
              <a:ext cx="216856" cy="216856"/>
              <a:chOff x="0" y="0"/>
              <a:chExt cx="208280" cy="20828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08280" cy="208280"/>
              </a:xfrm>
              <a:custGeom>
                <a:avLst/>
                <a:gdLst/>
                <a:ahLst/>
                <a:cxnLst/>
                <a:rect r="r" b="b" t="t" l="l"/>
                <a:pathLst>
                  <a:path h="208280" w="208280">
                    <a:moveTo>
                      <a:pt x="0" y="104140"/>
                    </a:moveTo>
                    <a:cubicBezTo>
                      <a:pt x="0" y="46609"/>
                      <a:pt x="46609" y="0"/>
                      <a:pt x="104140" y="0"/>
                    </a:cubicBezTo>
                    <a:cubicBezTo>
                      <a:pt x="161671" y="0"/>
                      <a:pt x="208280" y="46609"/>
                      <a:pt x="208280" y="104140"/>
                    </a:cubicBezTo>
                    <a:cubicBezTo>
                      <a:pt x="208280" y="161671"/>
                      <a:pt x="161671" y="208280"/>
                      <a:pt x="104140" y="208280"/>
                    </a:cubicBezTo>
                    <a:cubicBezTo>
                      <a:pt x="46609" y="208280"/>
                      <a:pt x="0" y="161671"/>
                      <a:pt x="0" y="104140"/>
                    </a:cubicBezTo>
                    <a:close/>
                  </a:path>
                </a:pathLst>
              </a:custGeom>
              <a:solidFill>
                <a:srgbClr val="B65AF6"/>
              </a:solidFill>
              <a:ln w="19050" cap="sq">
                <a:solidFill>
                  <a:srgbClr val="B65AF6"/>
                </a:solidFill>
                <a:prstDash val="solid"/>
                <a:miter/>
              </a:ln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646545" y="4784399"/>
              <a:ext cx="216856" cy="216856"/>
              <a:chOff x="0" y="0"/>
              <a:chExt cx="208280" cy="20828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08280" cy="208280"/>
              </a:xfrm>
              <a:custGeom>
                <a:avLst/>
                <a:gdLst/>
                <a:ahLst/>
                <a:cxnLst/>
                <a:rect r="r" b="b" t="t" l="l"/>
                <a:pathLst>
                  <a:path h="208280" w="208280">
                    <a:moveTo>
                      <a:pt x="0" y="104140"/>
                    </a:moveTo>
                    <a:cubicBezTo>
                      <a:pt x="0" y="46609"/>
                      <a:pt x="46609" y="0"/>
                      <a:pt x="104140" y="0"/>
                    </a:cubicBezTo>
                    <a:cubicBezTo>
                      <a:pt x="161671" y="0"/>
                      <a:pt x="208280" y="46609"/>
                      <a:pt x="208280" y="104140"/>
                    </a:cubicBezTo>
                    <a:cubicBezTo>
                      <a:pt x="208280" y="161671"/>
                      <a:pt x="161671" y="208280"/>
                      <a:pt x="104140" y="208280"/>
                    </a:cubicBezTo>
                    <a:cubicBezTo>
                      <a:pt x="46609" y="208280"/>
                      <a:pt x="0" y="161671"/>
                      <a:pt x="0" y="104140"/>
                    </a:cubicBezTo>
                    <a:close/>
                  </a:path>
                </a:pathLst>
              </a:custGeom>
              <a:solidFill>
                <a:srgbClr val="B65AF6"/>
              </a:solidFill>
              <a:ln w="19050" cap="sq">
                <a:solidFill>
                  <a:srgbClr val="B65AF6"/>
                </a:solidFill>
                <a:prstDash val="solid"/>
                <a:miter/>
              </a:ln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646545" y="6395673"/>
              <a:ext cx="216856" cy="216856"/>
              <a:chOff x="0" y="0"/>
              <a:chExt cx="208280" cy="20828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08280" cy="208280"/>
              </a:xfrm>
              <a:custGeom>
                <a:avLst/>
                <a:gdLst/>
                <a:ahLst/>
                <a:cxnLst/>
                <a:rect r="r" b="b" t="t" l="l"/>
                <a:pathLst>
                  <a:path h="208280" w="208280">
                    <a:moveTo>
                      <a:pt x="0" y="104140"/>
                    </a:moveTo>
                    <a:cubicBezTo>
                      <a:pt x="0" y="46609"/>
                      <a:pt x="46609" y="0"/>
                      <a:pt x="104140" y="0"/>
                    </a:cubicBezTo>
                    <a:cubicBezTo>
                      <a:pt x="161671" y="0"/>
                      <a:pt x="208280" y="46609"/>
                      <a:pt x="208280" y="104140"/>
                    </a:cubicBezTo>
                    <a:cubicBezTo>
                      <a:pt x="208280" y="161671"/>
                      <a:pt x="161671" y="208280"/>
                      <a:pt x="104140" y="208280"/>
                    </a:cubicBezTo>
                    <a:cubicBezTo>
                      <a:pt x="46609" y="208280"/>
                      <a:pt x="0" y="161671"/>
                      <a:pt x="0" y="104140"/>
                    </a:cubicBezTo>
                    <a:close/>
                  </a:path>
                </a:pathLst>
              </a:custGeom>
              <a:solidFill>
                <a:srgbClr val="B65AF6"/>
              </a:solidFill>
              <a:ln w="19050" cap="sq">
                <a:solidFill>
                  <a:srgbClr val="B65AF6"/>
                </a:solidFill>
                <a:prstDash val="solid"/>
                <a:miter/>
              </a:ln>
            </p:spPr>
          </p:sp>
        </p:grpSp>
      </p:grpSp>
      <p:grpSp>
        <p:nvGrpSpPr>
          <p:cNvPr name="Group 49" id="49"/>
          <p:cNvGrpSpPr/>
          <p:nvPr/>
        </p:nvGrpSpPr>
        <p:grpSpPr>
          <a:xfrm rot="0">
            <a:off x="7600950" y="3791541"/>
            <a:ext cx="3086100" cy="4290113"/>
            <a:chOff x="0" y="0"/>
            <a:chExt cx="812800" cy="112990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1129906"/>
            </a:xfrm>
            <a:custGeom>
              <a:avLst/>
              <a:gdLst/>
              <a:ahLst/>
              <a:cxnLst/>
              <a:rect r="r" b="b" t="t" l="l"/>
              <a:pathLst>
                <a:path h="1129906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564953"/>
                  </a:lnTo>
                  <a:lnTo>
                    <a:pt x="609600" y="1129906"/>
                  </a:lnTo>
                  <a:lnTo>
                    <a:pt x="0" y="1129906"/>
                  </a:lnTo>
                  <a:lnTo>
                    <a:pt x="203200" y="56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25D7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177800" y="-19050"/>
              <a:ext cx="558800" cy="114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815757" y="2350968"/>
            <a:ext cx="4656486" cy="1281703"/>
            <a:chOff x="0" y="0"/>
            <a:chExt cx="6208649" cy="170893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208649" cy="1708937"/>
            </a:xfrm>
            <a:custGeom>
              <a:avLst/>
              <a:gdLst/>
              <a:ahLst/>
              <a:cxnLst/>
              <a:rect r="r" b="b" t="t" l="l"/>
              <a:pathLst>
                <a:path h="1708937" w="6208649">
                  <a:moveTo>
                    <a:pt x="0" y="0"/>
                  </a:moveTo>
                  <a:lnTo>
                    <a:pt x="6208649" y="0"/>
                  </a:lnTo>
                  <a:lnTo>
                    <a:pt x="6208649" y="1708937"/>
                  </a:lnTo>
                  <a:lnTo>
                    <a:pt x="0" y="17089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507" r="-106189" b="-8341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6208649" cy="1708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739"/>
                </a:lnSpc>
              </a:pPr>
              <a:r>
                <a:rPr lang="en-US" sz="6450">
                  <a:solidFill>
                    <a:srgbClr val="F7F4FF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Hito Sercotec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3083753" y="49295"/>
            <a:ext cx="4742373" cy="2687974"/>
          </a:xfrm>
          <a:custGeom>
            <a:avLst/>
            <a:gdLst/>
            <a:ahLst/>
            <a:cxnLst/>
            <a:rect r="r" b="b" t="t" l="l"/>
            <a:pathLst>
              <a:path h="2687974" w="4742373">
                <a:moveTo>
                  <a:pt x="0" y="0"/>
                </a:moveTo>
                <a:lnTo>
                  <a:pt x="4742373" y="0"/>
                </a:lnTo>
                <a:lnTo>
                  <a:pt x="4742373" y="2687974"/>
                </a:lnTo>
                <a:lnTo>
                  <a:pt x="0" y="2687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</a:blip>
            <a:stretch>
              <a:fillRect l="-759" t="0" r="-794" b="0"/>
            </a:stretch>
          </a:blipFill>
        </p:spPr>
      </p:sp>
      <p:sp>
        <p:nvSpPr>
          <p:cNvPr name="AutoShape 56" id="56"/>
          <p:cNvSpPr/>
          <p:nvPr/>
        </p:nvSpPr>
        <p:spPr>
          <a:xfrm flipV="true">
            <a:off x="742958" y="1607082"/>
            <a:ext cx="12295644" cy="0"/>
          </a:xfrm>
          <a:prstGeom prst="line">
            <a:avLst/>
          </a:prstGeom>
          <a:ln cap="rnd" w="9525">
            <a:solidFill>
              <a:srgbClr val="B65AF6">
                <a:alpha val="70196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97285" cy="10629723"/>
          </a:xfrm>
          <a:custGeom>
            <a:avLst/>
            <a:gdLst/>
            <a:ahLst/>
            <a:cxnLst/>
            <a:rect r="r" b="b" t="t" l="l"/>
            <a:pathLst>
              <a:path h="10629723" w="18897285">
                <a:moveTo>
                  <a:pt x="0" y="0"/>
                </a:moveTo>
                <a:lnTo>
                  <a:pt x="18897285" y="0"/>
                </a:lnTo>
                <a:lnTo>
                  <a:pt x="18897285" y="10629723"/>
                </a:lnTo>
                <a:lnTo>
                  <a:pt x="0" y="10629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DAHWzscae0k</dc:identifier>
  <dcterms:modified xsi:type="dcterms:W3CDTF">2011-08-01T06:04:30Z</dcterms:modified>
  <cp:revision>1</cp:revision>
  <dc:title>REMA SERCOTEC</dc:title>
</cp:coreProperties>
</file>